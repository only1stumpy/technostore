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15"/>
  </p:notesMasterIdLst>
  <p:sldIdLst>
    <p:sldId id="258" r:id="rId2"/>
    <p:sldId id="256" r:id="rId3"/>
    <p:sldId id="265" r:id="rId4"/>
    <p:sldId id="311" r:id="rId5"/>
    <p:sldId id="312" r:id="rId6"/>
    <p:sldId id="313" r:id="rId7"/>
    <p:sldId id="314" r:id="rId8"/>
    <p:sldId id="315" r:id="rId9"/>
    <p:sldId id="317" r:id="rId10"/>
    <p:sldId id="318" r:id="rId11"/>
    <p:sldId id="319" r:id="rId12"/>
    <p:sldId id="320" r:id="rId13"/>
    <p:sldId id="316" r:id="rId14"/>
  </p:sldIdLst>
  <p:sldSz cx="9144000" cy="5143500" type="screen16x9"/>
  <p:notesSz cx="6858000" cy="9144000"/>
  <p:embeddedFontLst>
    <p:embeddedFont>
      <p:font typeface="Bebas Neue" panose="00000500000000000000" pitchFamily="50" charset="0"/>
      <p:regular r:id="rId16"/>
    </p:embeddedFont>
    <p:embeddedFont>
      <p:font typeface="Montserrat Light" panose="00000400000000000000" pitchFamily="2" charset="-52"/>
      <p:regular r:id="rId17"/>
      <p:italic r:id="rId18"/>
    </p:embeddedFont>
    <p:embeddedFont>
      <p:font typeface="Montserrat Medium" panose="00000600000000000000" pitchFamily="2" charset="-52"/>
      <p:regular r:id="rId19"/>
      <p:italic r:id="rId20"/>
    </p:embeddedFont>
    <p:embeddedFont>
      <p:font typeface="Montserrat SemiBold" panose="00000700000000000000" pitchFamily="2" charset="-52"/>
      <p:bold r:id="rId21"/>
      <p:boldItalic r:id="rId22"/>
    </p:embeddedFont>
    <p:embeddedFont>
      <p:font typeface="Poppins" panose="00000500000000000000" pitchFamily="2" charset="0"/>
      <p:regular r:id="rId23"/>
      <p:bold r:id="rId24"/>
      <p:italic r:id="rId25"/>
      <p:boldItalic r:id="rId26"/>
    </p:embeddedFont>
    <p:embeddedFont>
      <p:font typeface="Poppins SemiBold" panose="00000700000000000000" pitchFamily="2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1CD74CB-B847-4CD3-9C96-A8A59978FF04}">
  <a:tblStyle styleId="{A1CD74CB-B847-4CD3-9C96-A8A59978FF0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12d4e97ef00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12d4e97ef00_0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2d4e97ef00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12d4e97ef00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12da052de2e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12da052de2e_0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12da052de2e_0_3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12da052de2e_0_3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84602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2d4e97ef00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12d4e97ef00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32415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12da052de2e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12da052de2e_0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52016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12da052de2e_0_3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12da052de2e_0_3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41487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12da052de2e_0_3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12da052de2e_0_3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25110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12da052de2e_0_3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12da052de2e_0_3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1086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12da052de2e_0_3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12da052de2e_0_3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27570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12da052de2e_0_3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12da052de2e_0_3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05289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12da052de2e_0_3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12da052de2e_0_3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532990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12da052de2e_0_3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12da052de2e_0_3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40467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012" scaled="0"/>
        </a:gra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926475" y="1039950"/>
            <a:ext cx="4649100" cy="195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700">
                <a:solidFill>
                  <a:srgbClr val="191919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926475" y="3373050"/>
            <a:ext cx="2656200" cy="73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66666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0" y="4822125"/>
            <a:ext cx="1613100" cy="3213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6286800" y="0"/>
            <a:ext cx="2857200" cy="3213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10800025" scaled="0"/>
        </a:gra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>
            <a:spLocks noGrp="1"/>
          </p:cNvSpPr>
          <p:nvPr>
            <p:ph type="title"/>
          </p:nvPr>
        </p:nvSpPr>
        <p:spPr>
          <a:xfrm>
            <a:off x="1772463" y="1654725"/>
            <a:ext cx="2638500" cy="357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subTitle" idx="1"/>
          </p:nvPr>
        </p:nvSpPr>
        <p:spPr>
          <a:xfrm>
            <a:off x="1772463" y="2012990"/>
            <a:ext cx="2638500" cy="52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title" idx="2"/>
          </p:nvPr>
        </p:nvSpPr>
        <p:spPr>
          <a:xfrm>
            <a:off x="5474937" y="1654725"/>
            <a:ext cx="2638500" cy="357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subTitle" idx="3"/>
          </p:nvPr>
        </p:nvSpPr>
        <p:spPr>
          <a:xfrm>
            <a:off x="5474937" y="2012990"/>
            <a:ext cx="2638500" cy="52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title" idx="4" hasCustomPrompt="1"/>
          </p:nvPr>
        </p:nvSpPr>
        <p:spPr>
          <a:xfrm>
            <a:off x="1030563" y="1654725"/>
            <a:ext cx="665700" cy="357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4" name="Google Shape;74;p13"/>
          <p:cNvSpPr txBox="1">
            <a:spLocks noGrp="1"/>
          </p:cNvSpPr>
          <p:nvPr>
            <p:ph type="title" idx="5" hasCustomPrompt="1"/>
          </p:nvPr>
        </p:nvSpPr>
        <p:spPr>
          <a:xfrm>
            <a:off x="4733038" y="1654725"/>
            <a:ext cx="665700" cy="357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5" name="Google Shape;75;p13"/>
          <p:cNvSpPr txBox="1">
            <a:spLocks noGrp="1"/>
          </p:cNvSpPr>
          <p:nvPr>
            <p:ph type="title" idx="6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title" idx="7"/>
          </p:nvPr>
        </p:nvSpPr>
        <p:spPr>
          <a:xfrm>
            <a:off x="1772463" y="3061675"/>
            <a:ext cx="2638500" cy="357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8"/>
          </p:nvPr>
        </p:nvSpPr>
        <p:spPr>
          <a:xfrm>
            <a:off x="1772463" y="3419940"/>
            <a:ext cx="2638500" cy="52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title" idx="9"/>
          </p:nvPr>
        </p:nvSpPr>
        <p:spPr>
          <a:xfrm>
            <a:off x="5474937" y="3061675"/>
            <a:ext cx="2638500" cy="357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13"/>
          </p:nvPr>
        </p:nvSpPr>
        <p:spPr>
          <a:xfrm>
            <a:off x="5474937" y="3419940"/>
            <a:ext cx="2638500" cy="52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title" idx="14" hasCustomPrompt="1"/>
          </p:nvPr>
        </p:nvSpPr>
        <p:spPr>
          <a:xfrm>
            <a:off x="1030563" y="3061675"/>
            <a:ext cx="665700" cy="357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1" name="Google Shape;81;p13"/>
          <p:cNvSpPr txBox="1">
            <a:spLocks noGrp="1"/>
          </p:cNvSpPr>
          <p:nvPr>
            <p:ph type="title" idx="15" hasCustomPrompt="1"/>
          </p:nvPr>
        </p:nvSpPr>
        <p:spPr>
          <a:xfrm>
            <a:off x="4733038" y="3061675"/>
            <a:ext cx="665700" cy="357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2" name="Google Shape;82;p13"/>
          <p:cNvSpPr/>
          <p:nvPr/>
        </p:nvSpPr>
        <p:spPr>
          <a:xfrm>
            <a:off x="0" y="4822200"/>
            <a:ext cx="2857500" cy="3213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700" scaled="0"/>
        </a:gra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 txBox="1">
            <a:spLocks noGrp="1"/>
          </p:cNvSpPr>
          <p:nvPr>
            <p:ph type="title"/>
          </p:nvPr>
        </p:nvSpPr>
        <p:spPr>
          <a:xfrm>
            <a:off x="2145808" y="1635275"/>
            <a:ext cx="2139000" cy="35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51" name="Google Shape;151;p22"/>
          <p:cNvSpPr txBox="1">
            <a:spLocks noGrp="1"/>
          </p:cNvSpPr>
          <p:nvPr>
            <p:ph type="subTitle" idx="1"/>
          </p:nvPr>
        </p:nvSpPr>
        <p:spPr>
          <a:xfrm>
            <a:off x="2145808" y="1991975"/>
            <a:ext cx="2139000" cy="59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2"/>
          <p:cNvSpPr txBox="1">
            <a:spLocks noGrp="1"/>
          </p:cNvSpPr>
          <p:nvPr>
            <p:ph type="title" idx="2"/>
          </p:nvPr>
        </p:nvSpPr>
        <p:spPr>
          <a:xfrm>
            <a:off x="5910993" y="1635275"/>
            <a:ext cx="2139000" cy="35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53" name="Google Shape;153;p22"/>
          <p:cNvSpPr txBox="1">
            <a:spLocks noGrp="1"/>
          </p:cNvSpPr>
          <p:nvPr>
            <p:ph type="subTitle" idx="3"/>
          </p:nvPr>
        </p:nvSpPr>
        <p:spPr>
          <a:xfrm>
            <a:off x="5910986" y="1991975"/>
            <a:ext cx="2139000" cy="59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22"/>
          <p:cNvSpPr txBox="1">
            <a:spLocks noGrp="1"/>
          </p:cNvSpPr>
          <p:nvPr>
            <p:ph type="title" idx="4"/>
          </p:nvPr>
        </p:nvSpPr>
        <p:spPr>
          <a:xfrm>
            <a:off x="2145808" y="3068675"/>
            <a:ext cx="2139000" cy="35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55" name="Google Shape;155;p22"/>
          <p:cNvSpPr txBox="1">
            <a:spLocks noGrp="1"/>
          </p:cNvSpPr>
          <p:nvPr>
            <p:ph type="subTitle" idx="5"/>
          </p:nvPr>
        </p:nvSpPr>
        <p:spPr>
          <a:xfrm>
            <a:off x="2145808" y="3425375"/>
            <a:ext cx="2139000" cy="59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22"/>
          <p:cNvSpPr txBox="1">
            <a:spLocks noGrp="1"/>
          </p:cNvSpPr>
          <p:nvPr>
            <p:ph type="title" idx="6"/>
          </p:nvPr>
        </p:nvSpPr>
        <p:spPr>
          <a:xfrm>
            <a:off x="5910993" y="3068675"/>
            <a:ext cx="2139000" cy="35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57" name="Google Shape;157;p22"/>
          <p:cNvSpPr txBox="1">
            <a:spLocks noGrp="1"/>
          </p:cNvSpPr>
          <p:nvPr>
            <p:ph type="subTitle" idx="7"/>
          </p:nvPr>
        </p:nvSpPr>
        <p:spPr>
          <a:xfrm>
            <a:off x="5910986" y="3425375"/>
            <a:ext cx="2139000" cy="59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2"/>
          <p:cNvSpPr txBox="1">
            <a:spLocks noGrp="1"/>
          </p:cNvSpPr>
          <p:nvPr>
            <p:ph type="title" idx="8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9" name="Google Shape;159;p22"/>
          <p:cNvSpPr/>
          <p:nvPr/>
        </p:nvSpPr>
        <p:spPr>
          <a:xfrm>
            <a:off x="0" y="4822125"/>
            <a:ext cx="1613100" cy="3213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22"/>
          <p:cNvSpPr/>
          <p:nvPr/>
        </p:nvSpPr>
        <p:spPr>
          <a:xfrm rot="10800000">
            <a:off x="6286800" y="0"/>
            <a:ext cx="2857200" cy="3213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22"/>
          <p:cNvSpPr/>
          <p:nvPr/>
        </p:nvSpPr>
        <p:spPr>
          <a:xfrm>
            <a:off x="6634050" y="4608575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700" scaled="0"/>
        </a:gra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6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03" name="Google Shape;203;p26"/>
          <p:cNvSpPr/>
          <p:nvPr/>
        </p:nvSpPr>
        <p:spPr>
          <a:xfrm>
            <a:off x="0" y="4822125"/>
            <a:ext cx="1613100" cy="3213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700" scaled="0"/>
        </a:gra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8"/>
          <p:cNvSpPr/>
          <p:nvPr/>
        </p:nvSpPr>
        <p:spPr>
          <a:xfrm rot="10800000" flipH="1">
            <a:off x="0" y="0"/>
            <a:ext cx="2857500" cy="3213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28"/>
          <p:cNvSpPr/>
          <p:nvPr/>
        </p:nvSpPr>
        <p:spPr>
          <a:xfrm flipH="1">
            <a:off x="6286800" y="4822125"/>
            <a:ext cx="2857200" cy="3213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28"/>
          <p:cNvSpPr/>
          <p:nvPr/>
        </p:nvSpPr>
        <p:spPr>
          <a:xfrm>
            <a:off x="-542100" y="4363450"/>
            <a:ext cx="1490700" cy="1491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28"/>
          <p:cNvSpPr/>
          <p:nvPr/>
        </p:nvSpPr>
        <p:spPr>
          <a:xfrm>
            <a:off x="8430775" y="-818150"/>
            <a:ext cx="1490700" cy="1491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28"/>
          <p:cNvSpPr/>
          <p:nvPr/>
        </p:nvSpPr>
        <p:spPr>
          <a:xfrm>
            <a:off x="713225" y="4790200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18900732" scaled="0"/>
        </a:gra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9"/>
          <p:cNvSpPr/>
          <p:nvPr/>
        </p:nvSpPr>
        <p:spPr>
          <a:xfrm>
            <a:off x="0" y="4822125"/>
            <a:ext cx="1613100" cy="3213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29"/>
          <p:cNvSpPr/>
          <p:nvPr/>
        </p:nvSpPr>
        <p:spPr>
          <a:xfrm rot="10800000">
            <a:off x="7527900" y="0"/>
            <a:ext cx="1616100" cy="3213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29"/>
          <p:cNvSpPr/>
          <p:nvPr/>
        </p:nvSpPr>
        <p:spPr>
          <a:xfrm>
            <a:off x="-561150" y="-818150"/>
            <a:ext cx="1490700" cy="1491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29"/>
          <p:cNvSpPr/>
          <p:nvPr/>
        </p:nvSpPr>
        <p:spPr>
          <a:xfrm>
            <a:off x="8239950" y="4237275"/>
            <a:ext cx="1490700" cy="1491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29"/>
          <p:cNvSpPr/>
          <p:nvPr/>
        </p:nvSpPr>
        <p:spPr>
          <a:xfrm>
            <a:off x="713225" y="-391400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●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●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●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8" r:id="rId2"/>
    <p:sldLayoutId id="2147483659" r:id="rId3"/>
    <p:sldLayoutId id="2147483668" r:id="rId4"/>
    <p:sldLayoutId id="2147483672" r:id="rId5"/>
    <p:sldLayoutId id="2147483674" r:id="rId6"/>
    <p:sldLayoutId id="2147483675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5"/>
          <p:cNvSpPr/>
          <p:nvPr/>
        </p:nvSpPr>
        <p:spPr>
          <a:xfrm>
            <a:off x="8406745" y="-1340675"/>
            <a:ext cx="2981400" cy="29814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35"/>
          <p:cNvSpPr/>
          <p:nvPr/>
        </p:nvSpPr>
        <p:spPr>
          <a:xfrm>
            <a:off x="7478295" y="-595325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28" name="Таблица 27">
            <a:extLst>
              <a:ext uri="{FF2B5EF4-FFF2-40B4-BE49-F238E27FC236}">
                <a16:creationId xmlns:a16="http://schemas.microsoft.com/office/drawing/2014/main" id="{08F4CEA7-7918-3517-C912-3167CDD50C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0900933"/>
              </p:ext>
            </p:extLst>
          </p:nvPr>
        </p:nvGraphicFramePr>
        <p:xfrm>
          <a:off x="1019050" y="-4052"/>
          <a:ext cx="7343191" cy="737872"/>
        </p:xfrm>
        <a:graphic>
          <a:graphicData uri="http://schemas.openxmlformats.org/drawingml/2006/table">
            <a:tbl>
              <a:tblPr firstRow="1" firstCol="1" bandRow="1"/>
              <a:tblGrid>
                <a:gridCol w="7343191">
                  <a:extLst>
                    <a:ext uri="{9D8B030D-6E8A-4147-A177-3AD203B41FA5}">
                      <a16:colId xmlns:a16="http://schemas.microsoft.com/office/drawing/2014/main" val="6511983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ru-RU" sz="1200" kern="100" dirty="0">
                          <a:solidFill>
                            <a:schemeClr val="accent2"/>
                          </a:solidFill>
                          <a:effectLst/>
                          <a:latin typeface="Montserrat Medium" panose="000006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Приднестровский государственный университет им. Т.Г. Шевченко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3025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ru-RU" sz="1200" kern="100" dirty="0">
                          <a:solidFill>
                            <a:schemeClr val="accent2"/>
                          </a:solidFill>
                          <a:effectLst/>
                          <a:latin typeface="Montserrat Medium" panose="000006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Физико-технический институт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05438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ru-RU" sz="1200" kern="100" dirty="0">
                          <a:solidFill>
                            <a:schemeClr val="accent2"/>
                          </a:solidFill>
                          <a:effectLst/>
                          <a:latin typeface="Montserrat Medium" panose="000006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Факультет информатики и вычислительной техники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10653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ru-RU" sz="1200" kern="100" dirty="0">
                          <a:solidFill>
                            <a:schemeClr val="accent2"/>
                          </a:solidFill>
                          <a:effectLst/>
                          <a:latin typeface="Montserrat Medium" panose="000006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Кафедра информационных технологий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494447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6279BBBA-3494-F414-9D31-E5AE470CB6FA}"/>
              </a:ext>
            </a:extLst>
          </p:cNvPr>
          <p:cNvSpPr txBox="1"/>
          <p:nvPr/>
        </p:nvSpPr>
        <p:spPr>
          <a:xfrm>
            <a:off x="1043608" y="1679304"/>
            <a:ext cx="7056784" cy="12003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2400" b="1" i="0" dirty="0">
                <a:effectLst/>
                <a:latin typeface="Montserrat SemiBold" panose="00000700000000000000" pitchFamily="2" charset="-52"/>
              </a:rPr>
              <a:t>Тема: «Разработка рекомендательной системы для планирования переезда на основе предпочтений пользователя»</a:t>
            </a:r>
            <a:endParaRPr lang="ko-KR" altLang="en-US" sz="2400" dirty="0">
              <a:latin typeface="Montserrat SemiBold" panose="00000700000000000000" pitchFamily="2" charset="-52"/>
              <a:cs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3113AFB-E625-C0B9-C05F-9E84F95FD083}"/>
              </a:ext>
            </a:extLst>
          </p:cNvPr>
          <p:cNvSpPr txBox="1"/>
          <p:nvPr/>
        </p:nvSpPr>
        <p:spPr>
          <a:xfrm>
            <a:off x="3820160" y="3943171"/>
            <a:ext cx="5323840" cy="1200329"/>
          </a:xfrm>
          <a:prstGeom prst="rect">
            <a:avLst/>
          </a:prstGeom>
          <a:solidFill>
            <a:srgbClr val="F2F1F7">
              <a:alpha val="0"/>
            </a:srgbClr>
          </a:solidFill>
        </p:spPr>
        <p:txBody>
          <a:bodyPr wrap="square" rtlCol="0">
            <a:spAutoFit/>
          </a:bodyPr>
          <a:lstStyle/>
          <a:p>
            <a:pPr algn="r"/>
            <a:r>
              <a:rPr lang="ru-RU" altLang="ko-KR" sz="1200" dirty="0">
                <a:solidFill>
                  <a:schemeClr val="accent2"/>
                </a:solidFill>
                <a:latin typeface="Montserrat Medium" panose="00000600000000000000" pitchFamily="2" charset="-52"/>
                <a:cs typeface="Arial" panose="020B0604020202020204" pitchFamily="34" charset="0"/>
              </a:rPr>
              <a:t>Работу выполнил студент группы ИТ22ДР62ИС</a:t>
            </a:r>
          </a:p>
          <a:p>
            <a:pPr algn="r"/>
            <a:r>
              <a:rPr lang="ru-RU" altLang="ko-KR" sz="1200" dirty="0">
                <a:solidFill>
                  <a:schemeClr val="accent2"/>
                </a:solidFill>
                <a:latin typeface="Montserrat Medium" panose="00000600000000000000" pitchFamily="2" charset="-52"/>
                <a:cs typeface="Arial" panose="020B0604020202020204" pitchFamily="34" charset="0"/>
              </a:rPr>
              <a:t>Большаков Вячеслав Иванович</a:t>
            </a:r>
          </a:p>
          <a:p>
            <a:pPr algn="r"/>
            <a:endParaRPr lang="ru-RU" altLang="ko-KR" sz="1200" dirty="0">
              <a:solidFill>
                <a:schemeClr val="accent2"/>
              </a:solidFill>
              <a:latin typeface="Montserrat Medium" panose="00000600000000000000" pitchFamily="2" charset="-52"/>
              <a:cs typeface="Arial" panose="020B0604020202020204" pitchFamily="34" charset="0"/>
            </a:endParaRPr>
          </a:p>
          <a:p>
            <a:pPr algn="r"/>
            <a:r>
              <a:rPr lang="ru-RU" altLang="ko-KR" sz="1200" dirty="0">
                <a:solidFill>
                  <a:schemeClr val="accent2"/>
                </a:solidFill>
                <a:latin typeface="Montserrat Medium" panose="00000600000000000000" pitchFamily="2" charset="-52"/>
                <a:cs typeface="Arial" panose="020B0604020202020204" pitchFamily="34" charset="0"/>
              </a:rPr>
              <a:t>Руководитель,</a:t>
            </a:r>
          </a:p>
          <a:p>
            <a:pPr algn="r"/>
            <a:r>
              <a:rPr lang="ru-RU" sz="1200" kern="0" dirty="0">
                <a:solidFill>
                  <a:schemeClr val="accent2"/>
                </a:solidFill>
                <a:latin typeface="Montserrat Medium" panose="00000600000000000000" pitchFamily="2" charset="-52"/>
                <a:ea typeface="Times New Roman" panose="02020603050405020304" pitchFamily="18" charset="0"/>
              </a:rPr>
              <a:t>к. т. </a:t>
            </a:r>
            <a:r>
              <a:rPr lang="ru-RU" sz="1200" dirty="0">
                <a:solidFill>
                  <a:schemeClr val="accent2"/>
                </a:solidFill>
                <a:latin typeface="Montserrat Medium" panose="00000600000000000000" pitchFamily="2" charset="-52"/>
                <a:ea typeface="Times New Roman" panose="02020603050405020304" pitchFamily="18" charset="0"/>
              </a:rPr>
              <a:t>н., доцент</a:t>
            </a:r>
            <a:endParaRPr lang="ru-RU" sz="1200" kern="0" dirty="0">
              <a:solidFill>
                <a:schemeClr val="accent2"/>
              </a:solidFill>
              <a:effectLst/>
              <a:latin typeface="Montserrat Medium" panose="00000600000000000000" pitchFamily="2" charset="-52"/>
              <a:ea typeface="Times New Roman" panose="02020603050405020304" pitchFamily="18" charset="0"/>
            </a:endParaRPr>
          </a:p>
          <a:p>
            <a:pPr algn="r"/>
            <a:r>
              <a:rPr lang="ru-RU" altLang="ko-KR" sz="1200" dirty="0">
                <a:solidFill>
                  <a:schemeClr val="accent2"/>
                </a:solidFill>
                <a:latin typeface="Montserrat Medium" panose="00000600000000000000" pitchFamily="2" charset="-52"/>
                <a:cs typeface="Arial" panose="020B0604020202020204" pitchFamily="34" charset="0"/>
              </a:rPr>
              <a:t>Столяренко Ю. А.</a:t>
            </a:r>
            <a:endParaRPr lang="ru-RU" altLang="ko-KR" sz="1600" dirty="0">
              <a:solidFill>
                <a:schemeClr val="accent2"/>
              </a:solidFill>
              <a:latin typeface="Montserrat Medium" panose="00000600000000000000" pitchFamily="2" charset="-5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3"/>
          <p:cNvSpPr/>
          <p:nvPr/>
        </p:nvSpPr>
        <p:spPr>
          <a:xfrm>
            <a:off x="8396682" y="4443016"/>
            <a:ext cx="900000" cy="9000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456;p41">
            <a:extLst>
              <a:ext uri="{FF2B5EF4-FFF2-40B4-BE49-F238E27FC236}">
                <a16:creationId xmlns:a16="http://schemas.microsoft.com/office/drawing/2014/main" id="{0B7F3FF6-2A12-A96D-EF15-9484E782BCAE}"/>
              </a:ext>
            </a:extLst>
          </p:cNvPr>
          <p:cNvSpPr txBox="1">
            <a:spLocks/>
          </p:cNvSpPr>
          <p:nvPr/>
        </p:nvSpPr>
        <p:spPr>
          <a:xfrm>
            <a:off x="1775460" y="165857"/>
            <a:ext cx="5593080" cy="717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37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pPr algn="ctr"/>
            <a:r>
              <a:rPr lang="ru-RU" sz="3000" b="1" dirty="0">
                <a:latin typeface="Montserrat Medium" panose="00000600000000000000" pitchFamily="2" charset="-52"/>
              </a:rPr>
              <a:t>Основные цели и задачи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22F65D-792E-A879-380C-E8AC4D0AAE85}"/>
              </a:ext>
            </a:extLst>
          </p:cNvPr>
          <p:cNvSpPr txBox="1"/>
          <p:nvPr/>
        </p:nvSpPr>
        <p:spPr>
          <a:xfrm>
            <a:off x="784243" y="954601"/>
            <a:ext cx="7673958" cy="6815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25000"/>
              </a:lnSpc>
            </a:pPr>
            <a:r>
              <a:rPr lang="ru-RU" sz="1600" dirty="0">
                <a:latin typeface="Montserrat Medium" panose="00000600000000000000" pitchFamily="2" charset="-52"/>
                <a:sym typeface="Symbol" panose="05050102010706020507" pitchFamily="18" charset="2"/>
              </a:rPr>
              <a:t>Цель: </a:t>
            </a:r>
            <a:r>
              <a:rPr lang="ru-RU" sz="1600" dirty="0">
                <a:latin typeface="Montserrat Light" panose="00000400000000000000" pitchFamily="2" charset="-52"/>
                <a:sym typeface="Symbol" panose="05050102010706020507" pitchFamily="18" charset="2"/>
              </a:rPr>
              <a:t>разработать рекомендательную систему для выбора города для переезда на основе индивидуальных предпочтений пользователя</a:t>
            </a:r>
            <a:r>
              <a:rPr lang="ru-RU" sz="1600" dirty="0">
                <a:latin typeface="Montserrat Medium" panose="00000600000000000000" pitchFamily="2" charset="-52"/>
                <a:sym typeface="Symbol" panose="05050102010706020507" pitchFamily="18" charset="2"/>
              </a:rPr>
              <a:t>.</a:t>
            </a:r>
            <a:endParaRPr lang="ru-RU" sz="1600" dirty="0">
              <a:latin typeface="Montserrat Light" panose="00000400000000000000" pitchFamily="2" charset="-52"/>
              <a:sym typeface="Symbol" panose="05050102010706020507" pitchFamily="18" charset="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CB9142-08EE-24C9-F41B-CDCC30BD001B}"/>
              </a:ext>
            </a:extLst>
          </p:cNvPr>
          <p:cNvSpPr txBox="1"/>
          <p:nvPr/>
        </p:nvSpPr>
        <p:spPr>
          <a:xfrm>
            <a:off x="784243" y="1784344"/>
            <a:ext cx="7673958" cy="283603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25000"/>
              </a:lnSpc>
            </a:pPr>
            <a:r>
              <a:rPr lang="ru-RU" sz="1600" dirty="0">
                <a:latin typeface="Montserrat Medium" panose="00000600000000000000" pitchFamily="2" charset="-52"/>
                <a:sym typeface="Symbol" panose="05050102010706020507" pitchFamily="18" charset="2"/>
              </a:rPr>
              <a:t>Задачи:</a:t>
            </a:r>
          </a:p>
          <a:p>
            <a:pPr>
              <a:lnSpc>
                <a:spcPct val="125000"/>
              </a:lnSpc>
            </a:pPr>
            <a:r>
              <a:rPr lang="ru-RU" sz="1600" dirty="0">
                <a:latin typeface="Montserrat Medium" panose="00000600000000000000" pitchFamily="2" charset="-52"/>
                <a:sym typeface="Symbol" panose="05050102010706020507" pitchFamily="18" charset="2"/>
              </a:rPr>
              <a:t>1. </a:t>
            </a:r>
            <a:r>
              <a:rPr lang="ru-RU" sz="1600" dirty="0">
                <a:latin typeface="Montserrat Light" panose="00000400000000000000" pitchFamily="2" charset="-52"/>
                <a:sym typeface="Symbol" panose="05050102010706020507" pitchFamily="18" charset="2"/>
              </a:rPr>
              <a:t>Провести анализ предметной области и существующих систем.</a:t>
            </a:r>
          </a:p>
          <a:p>
            <a:pPr>
              <a:lnSpc>
                <a:spcPct val="125000"/>
              </a:lnSpc>
            </a:pPr>
            <a:r>
              <a:rPr lang="ru-RU" sz="1600" dirty="0">
                <a:latin typeface="Montserrat Medium" panose="00000600000000000000" pitchFamily="2" charset="-52"/>
                <a:sym typeface="Symbol" panose="05050102010706020507" pitchFamily="18" charset="2"/>
              </a:rPr>
              <a:t>2. </a:t>
            </a:r>
            <a:r>
              <a:rPr lang="ru-RU" sz="1600" dirty="0">
                <a:latin typeface="Montserrat Light" panose="00000400000000000000" pitchFamily="2" charset="-52"/>
                <a:sym typeface="Symbol" panose="05050102010706020507" pitchFamily="18" charset="2"/>
              </a:rPr>
              <a:t>Выбрать и реализовать 3 метода </a:t>
            </a:r>
            <a:r>
              <a:rPr lang="en-US" sz="1600" dirty="0">
                <a:latin typeface="Montserrat Light" panose="00000400000000000000" pitchFamily="2" charset="-52"/>
                <a:sym typeface="Symbol" panose="05050102010706020507" pitchFamily="18" charset="2"/>
              </a:rPr>
              <a:t>MCDM</a:t>
            </a:r>
            <a:r>
              <a:rPr lang="ru-RU" sz="1600" dirty="0">
                <a:latin typeface="Montserrat Light" panose="00000400000000000000" pitchFamily="2" charset="-52"/>
                <a:sym typeface="Symbol" panose="05050102010706020507" pitchFamily="18" charset="2"/>
              </a:rPr>
              <a:t> </a:t>
            </a:r>
            <a:r>
              <a:rPr lang="en-US" sz="1600" dirty="0">
                <a:latin typeface="Montserrat Light" panose="00000400000000000000" pitchFamily="2" charset="-52"/>
                <a:sym typeface="Symbol" panose="05050102010706020507" pitchFamily="18" charset="2"/>
              </a:rPr>
              <a:t></a:t>
            </a:r>
            <a:r>
              <a:rPr lang="ru-RU" sz="1600" dirty="0">
                <a:latin typeface="Montserrat Light" panose="00000400000000000000" pitchFamily="2" charset="-52"/>
                <a:sym typeface="Symbol" panose="05050102010706020507" pitchFamily="18" charset="2"/>
              </a:rPr>
              <a:t> </a:t>
            </a:r>
            <a:r>
              <a:rPr lang="en-US" sz="1600" dirty="0">
                <a:latin typeface="Montserrat Light" panose="00000400000000000000" pitchFamily="2" charset="-52"/>
                <a:sym typeface="Symbol" panose="05050102010706020507" pitchFamily="18" charset="2"/>
              </a:rPr>
              <a:t>WSM, TOPSIS </a:t>
            </a:r>
            <a:r>
              <a:rPr lang="ru-RU" sz="1600" dirty="0">
                <a:latin typeface="Montserrat Light" panose="00000400000000000000" pitchFamily="2" charset="-52"/>
                <a:sym typeface="Symbol" panose="05050102010706020507" pitchFamily="18" charset="2"/>
              </a:rPr>
              <a:t>и </a:t>
            </a:r>
            <a:r>
              <a:rPr lang="en-US" sz="1600" dirty="0">
                <a:latin typeface="Montserrat Light" panose="00000400000000000000" pitchFamily="2" charset="-52"/>
                <a:sym typeface="Symbol" panose="05050102010706020507" pitchFamily="18" charset="2"/>
              </a:rPr>
              <a:t>CBR</a:t>
            </a:r>
            <a:r>
              <a:rPr lang="ru-RU" sz="1600" dirty="0">
                <a:latin typeface="Montserrat Light" panose="00000400000000000000" pitchFamily="2" charset="-52"/>
                <a:sym typeface="Symbol" panose="05050102010706020507" pitchFamily="18" charset="2"/>
              </a:rPr>
              <a:t>.</a:t>
            </a:r>
            <a:endParaRPr lang="en-US" sz="1600" dirty="0">
              <a:latin typeface="Montserrat Light" panose="00000400000000000000" pitchFamily="2" charset="-52"/>
              <a:sym typeface="Symbol" panose="05050102010706020507" pitchFamily="18" charset="2"/>
            </a:endParaRPr>
          </a:p>
          <a:p>
            <a:pPr>
              <a:lnSpc>
                <a:spcPct val="125000"/>
              </a:lnSpc>
            </a:pPr>
            <a:r>
              <a:rPr lang="en-US" sz="1600" dirty="0">
                <a:latin typeface="Montserrat Medium" panose="00000600000000000000" pitchFamily="2" charset="-52"/>
                <a:sym typeface="Symbol" panose="05050102010706020507" pitchFamily="18" charset="2"/>
              </a:rPr>
              <a:t>3. </a:t>
            </a:r>
            <a:r>
              <a:rPr lang="ru-RU" sz="1600" dirty="0">
                <a:latin typeface="Montserrat Light" panose="00000400000000000000" pitchFamily="2" charset="-52"/>
                <a:sym typeface="Symbol" panose="05050102010706020507" pitchFamily="18" charset="2"/>
              </a:rPr>
              <a:t>Создать базу данных городов с 14 критериями из 7 источников.</a:t>
            </a:r>
          </a:p>
          <a:p>
            <a:pPr>
              <a:lnSpc>
                <a:spcPct val="125000"/>
              </a:lnSpc>
            </a:pPr>
            <a:r>
              <a:rPr lang="ru-RU" sz="1600" dirty="0">
                <a:latin typeface="Montserrat Medium" panose="00000600000000000000" pitchFamily="2" charset="-52"/>
                <a:sym typeface="Symbol" panose="05050102010706020507" pitchFamily="18" charset="2"/>
              </a:rPr>
              <a:t>4. </a:t>
            </a:r>
            <a:r>
              <a:rPr lang="ru-RU" sz="1600" dirty="0">
                <a:latin typeface="Montserrat Light" panose="00000400000000000000" pitchFamily="2" charset="-52"/>
                <a:sym typeface="Symbol" panose="05050102010706020507" pitchFamily="18" charset="2"/>
              </a:rPr>
              <a:t>Разработать клиент-серверное приложение как форма реализации рекомендательной системы.</a:t>
            </a:r>
          </a:p>
          <a:p>
            <a:pPr>
              <a:lnSpc>
                <a:spcPct val="125000"/>
              </a:lnSpc>
            </a:pPr>
            <a:r>
              <a:rPr lang="ru-RU" sz="1600" dirty="0">
                <a:latin typeface="Montserrat Medium" panose="00000600000000000000" pitchFamily="2" charset="-52"/>
                <a:sym typeface="Symbol" panose="05050102010706020507" pitchFamily="18" charset="2"/>
              </a:rPr>
              <a:t>5. </a:t>
            </a:r>
            <a:r>
              <a:rPr lang="ru-RU" sz="1600" dirty="0">
                <a:latin typeface="Montserrat Light" panose="00000400000000000000" pitchFamily="2" charset="-52"/>
                <a:sym typeface="Symbol" panose="05050102010706020507" pitchFamily="18" charset="2"/>
              </a:rPr>
              <a:t>Реализовать дополнительные функции: фильтрация, сравнение городов, история, избранное.</a:t>
            </a:r>
          </a:p>
          <a:p>
            <a:pPr>
              <a:lnSpc>
                <a:spcPct val="125000"/>
              </a:lnSpc>
            </a:pPr>
            <a:r>
              <a:rPr lang="ru-RU" sz="1600" dirty="0">
                <a:latin typeface="Montserrat Medium" panose="00000600000000000000" pitchFamily="2" charset="-52"/>
                <a:sym typeface="Symbol" panose="05050102010706020507" pitchFamily="18" charset="2"/>
              </a:rPr>
              <a:t>6. </a:t>
            </a:r>
            <a:r>
              <a:rPr lang="ru-RU" sz="1600" dirty="0">
                <a:latin typeface="Montserrat Light" panose="00000400000000000000" pitchFamily="2" charset="-52"/>
                <a:sym typeface="Symbol" panose="05050102010706020507" pitchFamily="18" charset="2"/>
              </a:rPr>
              <a:t>Провести тестирование и оценить эффективность.</a:t>
            </a:r>
          </a:p>
        </p:txBody>
      </p:sp>
      <p:sp>
        <p:nvSpPr>
          <p:cNvPr id="14" name="Google Shape;458;p41">
            <a:extLst>
              <a:ext uri="{FF2B5EF4-FFF2-40B4-BE49-F238E27FC236}">
                <a16:creationId xmlns:a16="http://schemas.microsoft.com/office/drawing/2014/main" id="{536E4C98-20DA-3ED0-FB72-3F51BDCFFE29}"/>
              </a:ext>
            </a:extLst>
          </p:cNvPr>
          <p:cNvSpPr txBox="1">
            <a:spLocks/>
          </p:cNvSpPr>
          <p:nvPr/>
        </p:nvSpPr>
        <p:spPr>
          <a:xfrm>
            <a:off x="8318367" y="4473496"/>
            <a:ext cx="985935" cy="754000"/>
          </a:xfrm>
          <a:prstGeom prst="rect">
            <a:avLst/>
          </a:prstGeom>
          <a:effectLst>
            <a:outerShdw blurRad="50800" dist="50800" dir="2700000" algn="ctr" rotWithShape="0">
              <a:sysClr val="windowText" lastClr="000000"/>
            </a:outerShdw>
          </a:effectLst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defPPr>
              <a:defRPr lang="en-UA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" sz="2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+mn-cs"/>
              </a:rPr>
              <a:t>/13</a:t>
            </a:r>
            <a:endParaRPr kumimoji="0" lang="en" sz="2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 SemiBold" panose="00000700000000000000" pitchFamily="2" charset="-52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2"/>
          <p:cNvSpPr txBox="1">
            <a:spLocks noGrp="1"/>
          </p:cNvSpPr>
          <p:nvPr>
            <p:ph type="title"/>
          </p:nvPr>
        </p:nvSpPr>
        <p:spPr>
          <a:xfrm>
            <a:off x="1775460" y="1301122"/>
            <a:ext cx="3228447" cy="60767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latin typeface="Montserrat Medium" panose="00000600000000000000" pitchFamily="2" charset="-52"/>
              </a:rPr>
              <a:t>Рост географической мобильности населения</a:t>
            </a:r>
            <a:endParaRPr sz="1600" dirty="0">
              <a:latin typeface="Montserrat Medium" panose="00000600000000000000" pitchFamily="2" charset="-52"/>
            </a:endParaRPr>
          </a:p>
        </p:txBody>
      </p:sp>
      <p:sp>
        <p:nvSpPr>
          <p:cNvPr id="367" name="Google Shape;367;p42"/>
          <p:cNvSpPr/>
          <p:nvPr/>
        </p:nvSpPr>
        <p:spPr>
          <a:xfrm>
            <a:off x="811400" y="977997"/>
            <a:ext cx="899400" cy="899400"/>
          </a:xfrm>
          <a:prstGeom prst="ellipse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42"/>
          <p:cNvSpPr/>
          <p:nvPr/>
        </p:nvSpPr>
        <p:spPr>
          <a:xfrm>
            <a:off x="805263" y="2672110"/>
            <a:ext cx="899400" cy="899400"/>
          </a:xfrm>
          <a:prstGeom prst="ellipse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42"/>
          <p:cNvSpPr/>
          <p:nvPr/>
        </p:nvSpPr>
        <p:spPr>
          <a:xfrm>
            <a:off x="5151604" y="1697322"/>
            <a:ext cx="899400" cy="899400"/>
          </a:xfrm>
          <a:prstGeom prst="ellipse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42"/>
          <p:cNvSpPr/>
          <p:nvPr/>
        </p:nvSpPr>
        <p:spPr>
          <a:xfrm>
            <a:off x="5151604" y="3493403"/>
            <a:ext cx="899400" cy="899400"/>
          </a:xfrm>
          <a:prstGeom prst="ellipse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456;p41">
            <a:extLst>
              <a:ext uri="{FF2B5EF4-FFF2-40B4-BE49-F238E27FC236}">
                <a16:creationId xmlns:a16="http://schemas.microsoft.com/office/drawing/2014/main" id="{87772D1D-6396-9281-31E6-CE8B97A7C3AA}"/>
              </a:ext>
            </a:extLst>
          </p:cNvPr>
          <p:cNvSpPr txBox="1">
            <a:spLocks/>
          </p:cNvSpPr>
          <p:nvPr/>
        </p:nvSpPr>
        <p:spPr>
          <a:xfrm>
            <a:off x="1775460" y="165857"/>
            <a:ext cx="5593080" cy="717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37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pPr algn="ctr"/>
            <a:r>
              <a:rPr lang="ru-RU" sz="3000" b="1" dirty="0">
                <a:latin typeface="Montserrat Medium" panose="00000600000000000000" pitchFamily="2" charset="-52"/>
              </a:rPr>
              <a:t>Актуальность работы</a:t>
            </a:r>
          </a:p>
        </p:txBody>
      </p:sp>
      <p:sp>
        <p:nvSpPr>
          <p:cNvPr id="5" name="Google Shape;239;p33">
            <a:extLst>
              <a:ext uri="{FF2B5EF4-FFF2-40B4-BE49-F238E27FC236}">
                <a16:creationId xmlns:a16="http://schemas.microsoft.com/office/drawing/2014/main" id="{7168B579-DCC4-41A8-B521-648284182181}"/>
              </a:ext>
            </a:extLst>
          </p:cNvPr>
          <p:cNvSpPr/>
          <p:nvPr/>
        </p:nvSpPr>
        <p:spPr>
          <a:xfrm>
            <a:off x="8396682" y="4443016"/>
            <a:ext cx="900000" cy="9000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458;p41">
            <a:extLst>
              <a:ext uri="{FF2B5EF4-FFF2-40B4-BE49-F238E27FC236}">
                <a16:creationId xmlns:a16="http://schemas.microsoft.com/office/drawing/2014/main" id="{295449B1-03FB-E306-6866-C11AF0A61A15}"/>
              </a:ext>
            </a:extLst>
          </p:cNvPr>
          <p:cNvSpPr txBox="1">
            <a:spLocks/>
          </p:cNvSpPr>
          <p:nvPr/>
        </p:nvSpPr>
        <p:spPr>
          <a:xfrm>
            <a:off x="8318367" y="4473496"/>
            <a:ext cx="985935" cy="754000"/>
          </a:xfrm>
          <a:prstGeom prst="rect">
            <a:avLst/>
          </a:prstGeom>
          <a:effectLst>
            <a:outerShdw blurRad="50800" dist="50800" dir="2700000" algn="ctr" rotWithShape="0">
              <a:sysClr val="windowText" lastClr="000000"/>
            </a:outerShdw>
          </a:effectLst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defPPr>
              <a:defRPr lang="en-UA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" sz="2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+mn-cs"/>
              </a:rPr>
              <a:t>/13</a:t>
            </a:r>
            <a:endParaRPr kumimoji="0" lang="en" sz="2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 SemiBold" panose="00000700000000000000" pitchFamily="2" charset="-52"/>
              <a:ea typeface="+mn-ea"/>
              <a:cs typeface="+mn-cs"/>
            </a:endParaRPr>
          </a:p>
        </p:txBody>
      </p:sp>
      <p:pic>
        <p:nvPicPr>
          <p:cNvPr id="10" name="Рисунок 9" descr="Изображение выглядит как круг, Графика, Красочность, графическая вставк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093E1BD4-3941-AFD7-3BC3-688FC5FA75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799" y="1157412"/>
            <a:ext cx="540000" cy="540000"/>
          </a:xfrm>
          <a:prstGeom prst="rect">
            <a:avLst/>
          </a:prstGeom>
        </p:spPr>
      </p:pic>
      <p:pic>
        <p:nvPicPr>
          <p:cNvPr id="12" name="Рисунок 11" descr="Изображение выглядит как графическая вставка, мультфильм, иллюстрация, Мультфильм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7DDC308D-8ED4-D167-EA6E-A487A8E1EB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4561" y="1859510"/>
            <a:ext cx="540000" cy="540000"/>
          </a:xfrm>
          <a:prstGeom prst="rect">
            <a:avLst/>
          </a:prstGeom>
        </p:spPr>
      </p:pic>
      <p:pic>
        <p:nvPicPr>
          <p:cNvPr id="14" name="Рисунок 13" descr="Изображение выглядит как графическая вставка, рисунок, мультфильм, искусств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8CEF3957-3661-A772-CEE6-33C333748E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799" y="2831343"/>
            <a:ext cx="540000" cy="540000"/>
          </a:xfrm>
          <a:prstGeom prst="rect">
            <a:avLst/>
          </a:prstGeom>
        </p:spPr>
      </p:pic>
      <p:pic>
        <p:nvPicPr>
          <p:cNvPr id="16" name="Рисунок 15" descr="Изображение выглядит как лампа, Графика, Неон, Красочность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C26321DA-0712-AC9F-530A-A0370635A3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5614" y="3666409"/>
            <a:ext cx="538947" cy="540000"/>
          </a:xfrm>
          <a:prstGeom prst="rect">
            <a:avLst/>
          </a:prstGeom>
        </p:spPr>
      </p:pic>
      <p:sp>
        <p:nvSpPr>
          <p:cNvPr id="31" name="Google Shape;358;p42">
            <a:extLst>
              <a:ext uri="{FF2B5EF4-FFF2-40B4-BE49-F238E27FC236}">
                <a16:creationId xmlns:a16="http://schemas.microsoft.com/office/drawing/2014/main" id="{03D356A5-D554-9D52-3C65-B65C8107EAB2}"/>
              </a:ext>
            </a:extLst>
          </p:cNvPr>
          <p:cNvSpPr txBox="1">
            <a:spLocks/>
          </p:cNvSpPr>
          <p:nvPr/>
        </p:nvSpPr>
        <p:spPr>
          <a:xfrm>
            <a:off x="6161194" y="2001750"/>
            <a:ext cx="2174278" cy="607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Poppins SemiBold"/>
              <a:buNone/>
              <a:defRPr sz="23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Poppins SemiBold"/>
              <a:buNone/>
              <a:defRPr sz="25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Poppins SemiBold"/>
              <a:buNone/>
              <a:defRPr sz="25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Poppins SemiBold"/>
              <a:buNone/>
              <a:defRPr sz="25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Poppins SemiBold"/>
              <a:buNone/>
              <a:defRPr sz="25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Poppins SemiBold"/>
              <a:buNone/>
              <a:defRPr sz="25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Poppins SemiBold"/>
              <a:buNone/>
              <a:defRPr sz="25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Poppins SemiBold"/>
              <a:buNone/>
              <a:defRPr sz="25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Poppins SemiBold"/>
              <a:buNone/>
              <a:defRPr sz="25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r>
              <a:rPr lang="ru-RU" sz="1600" dirty="0">
                <a:latin typeface="Montserrat Medium" panose="00000600000000000000" pitchFamily="2" charset="-52"/>
              </a:rPr>
              <a:t>Информационная перегрузка</a:t>
            </a:r>
          </a:p>
        </p:txBody>
      </p:sp>
      <p:sp>
        <p:nvSpPr>
          <p:cNvPr id="32" name="Google Shape;358;p42">
            <a:extLst>
              <a:ext uri="{FF2B5EF4-FFF2-40B4-BE49-F238E27FC236}">
                <a16:creationId xmlns:a16="http://schemas.microsoft.com/office/drawing/2014/main" id="{386A3F65-80AF-C102-CA99-8E21B52265BC}"/>
              </a:ext>
            </a:extLst>
          </p:cNvPr>
          <p:cNvSpPr txBox="1">
            <a:spLocks/>
          </p:cNvSpPr>
          <p:nvPr/>
        </p:nvSpPr>
        <p:spPr>
          <a:xfrm>
            <a:off x="1792156" y="3010357"/>
            <a:ext cx="2048324" cy="607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Poppins SemiBold"/>
              <a:buNone/>
              <a:defRPr sz="23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Poppins SemiBold"/>
              <a:buNone/>
              <a:defRPr sz="25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Poppins SemiBold"/>
              <a:buNone/>
              <a:defRPr sz="25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Poppins SemiBold"/>
              <a:buNone/>
              <a:defRPr sz="25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Poppins SemiBold"/>
              <a:buNone/>
              <a:defRPr sz="25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Poppins SemiBold"/>
              <a:buNone/>
              <a:defRPr sz="25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Poppins SemiBold"/>
              <a:buNone/>
              <a:defRPr sz="25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Poppins SemiBold"/>
              <a:buNone/>
              <a:defRPr sz="25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Poppins SemiBold"/>
              <a:buNone/>
              <a:defRPr sz="25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r>
              <a:rPr lang="ru-RU" sz="1600" dirty="0">
                <a:latin typeface="Montserrat Medium" panose="00000600000000000000" pitchFamily="2" charset="-52"/>
              </a:rPr>
              <a:t>Отсутствие персонализации</a:t>
            </a:r>
          </a:p>
        </p:txBody>
      </p:sp>
      <p:sp>
        <p:nvSpPr>
          <p:cNvPr id="33" name="Google Shape;358;p42">
            <a:extLst>
              <a:ext uri="{FF2B5EF4-FFF2-40B4-BE49-F238E27FC236}">
                <a16:creationId xmlns:a16="http://schemas.microsoft.com/office/drawing/2014/main" id="{302E62C2-B467-0A28-2FE2-C3D6AFDDE226}"/>
              </a:ext>
            </a:extLst>
          </p:cNvPr>
          <p:cNvSpPr txBox="1">
            <a:spLocks/>
          </p:cNvSpPr>
          <p:nvPr/>
        </p:nvSpPr>
        <p:spPr>
          <a:xfrm>
            <a:off x="6162247" y="3497292"/>
            <a:ext cx="1953053" cy="1172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Poppins SemiBold"/>
              <a:buNone/>
              <a:defRPr sz="23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Poppins SemiBold"/>
              <a:buNone/>
              <a:defRPr sz="25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Poppins SemiBold"/>
              <a:buNone/>
              <a:defRPr sz="25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Poppins SemiBold"/>
              <a:buNone/>
              <a:defRPr sz="25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Poppins SemiBold"/>
              <a:buNone/>
              <a:defRPr sz="25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Poppins SemiBold"/>
              <a:buNone/>
              <a:defRPr sz="25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Poppins SemiBold"/>
              <a:buNone/>
              <a:defRPr sz="25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Poppins SemiBold"/>
              <a:buNone/>
              <a:defRPr sz="25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Poppins SemiBold"/>
              <a:buNone/>
              <a:defRPr sz="25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r>
              <a:rPr lang="ru-RU" sz="1600" dirty="0">
                <a:latin typeface="Montserrat Medium" panose="00000600000000000000" pitchFamily="2" charset="-52"/>
              </a:rPr>
              <a:t>Необходимость математически обоснованного инструмента</a:t>
            </a:r>
          </a:p>
        </p:txBody>
      </p:sp>
      <p:sp>
        <p:nvSpPr>
          <p:cNvPr id="41" name="Google Shape;301;p38">
            <a:extLst>
              <a:ext uri="{FF2B5EF4-FFF2-40B4-BE49-F238E27FC236}">
                <a16:creationId xmlns:a16="http://schemas.microsoft.com/office/drawing/2014/main" id="{052C3DD6-AF8E-27F1-C119-3D350DA18B66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792156" y="981017"/>
            <a:ext cx="505975" cy="32461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4B8533D7-2766-524B-FB78-319E74520FF2}"/>
              </a:ext>
            </a:extLst>
          </p:cNvPr>
          <p:cNvCxnSpPr/>
          <p:nvPr/>
        </p:nvCxnSpPr>
        <p:spPr>
          <a:xfrm>
            <a:off x="1903141" y="1301122"/>
            <a:ext cx="289932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Google Shape;301;p38">
            <a:extLst>
              <a:ext uri="{FF2B5EF4-FFF2-40B4-BE49-F238E27FC236}">
                <a16:creationId xmlns:a16="http://schemas.microsoft.com/office/drawing/2014/main" id="{B53C0AD7-CDBE-4546-6233-03022C5FC9B7}"/>
              </a:ext>
            </a:extLst>
          </p:cNvPr>
          <p:cNvSpPr txBox="1">
            <a:spLocks/>
          </p:cNvSpPr>
          <p:nvPr/>
        </p:nvSpPr>
        <p:spPr>
          <a:xfrm>
            <a:off x="6161194" y="1695025"/>
            <a:ext cx="562186" cy="32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Poppins SemiBold"/>
              <a:buNone/>
              <a:defRPr sz="23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Poppins SemiBold"/>
              <a:buNone/>
              <a:defRPr sz="25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Poppins SemiBold"/>
              <a:buNone/>
              <a:defRPr sz="25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Poppins SemiBold"/>
              <a:buNone/>
              <a:defRPr sz="25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Poppins SemiBold"/>
              <a:buNone/>
              <a:defRPr sz="25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Poppins SemiBold"/>
              <a:buNone/>
              <a:defRPr sz="25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Poppins SemiBold"/>
              <a:buNone/>
              <a:defRPr sz="25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Poppins SemiBold"/>
              <a:buNone/>
              <a:defRPr sz="25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Poppins SemiBold"/>
              <a:buNone/>
              <a:defRPr sz="25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r>
              <a:rPr lang="en" dirty="0"/>
              <a:t>0</a:t>
            </a:r>
            <a:r>
              <a:rPr lang="ru-RU" dirty="0"/>
              <a:t>2</a:t>
            </a:r>
            <a:endParaRPr lang="en" dirty="0"/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D44E7258-8EF7-D2C1-1CE8-643C35E192CD}"/>
              </a:ext>
            </a:extLst>
          </p:cNvPr>
          <p:cNvCxnSpPr>
            <a:cxnSpLocks/>
          </p:cNvCxnSpPr>
          <p:nvPr/>
        </p:nvCxnSpPr>
        <p:spPr>
          <a:xfrm>
            <a:off x="6272179" y="2015130"/>
            <a:ext cx="341981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Google Shape;301;p38">
            <a:extLst>
              <a:ext uri="{FF2B5EF4-FFF2-40B4-BE49-F238E27FC236}">
                <a16:creationId xmlns:a16="http://schemas.microsoft.com/office/drawing/2014/main" id="{5EEE9ECE-C57A-6E9C-4C0A-41AFAC029627}"/>
              </a:ext>
            </a:extLst>
          </p:cNvPr>
          <p:cNvSpPr txBox="1">
            <a:spLocks/>
          </p:cNvSpPr>
          <p:nvPr/>
        </p:nvSpPr>
        <p:spPr>
          <a:xfrm>
            <a:off x="1792156" y="2660252"/>
            <a:ext cx="601639" cy="32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Poppins SemiBold"/>
              <a:buNone/>
              <a:defRPr sz="23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Poppins SemiBold"/>
              <a:buNone/>
              <a:defRPr sz="25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Poppins SemiBold"/>
              <a:buNone/>
              <a:defRPr sz="25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Poppins SemiBold"/>
              <a:buNone/>
              <a:defRPr sz="25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Poppins SemiBold"/>
              <a:buNone/>
              <a:defRPr sz="25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Poppins SemiBold"/>
              <a:buNone/>
              <a:defRPr sz="25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Poppins SemiBold"/>
              <a:buNone/>
              <a:defRPr sz="25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Poppins SemiBold"/>
              <a:buNone/>
              <a:defRPr sz="25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Poppins SemiBold"/>
              <a:buNone/>
              <a:defRPr sz="25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r>
              <a:rPr lang="en" dirty="0"/>
              <a:t>0</a:t>
            </a:r>
            <a:r>
              <a:rPr lang="ru-RU" dirty="0"/>
              <a:t>3</a:t>
            </a:r>
            <a:endParaRPr lang="en" dirty="0"/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9BCE0176-C574-7CBD-FDB2-847648F3D4D8}"/>
              </a:ext>
            </a:extLst>
          </p:cNvPr>
          <p:cNvCxnSpPr>
            <a:cxnSpLocks/>
          </p:cNvCxnSpPr>
          <p:nvPr/>
        </p:nvCxnSpPr>
        <p:spPr>
          <a:xfrm>
            <a:off x="1903141" y="2980357"/>
            <a:ext cx="341971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Google Shape;301;p38">
            <a:extLst>
              <a:ext uri="{FF2B5EF4-FFF2-40B4-BE49-F238E27FC236}">
                <a16:creationId xmlns:a16="http://schemas.microsoft.com/office/drawing/2014/main" id="{F5E4B4A8-BBA8-E092-B3FB-10932D6285EC}"/>
              </a:ext>
            </a:extLst>
          </p:cNvPr>
          <p:cNvSpPr txBox="1">
            <a:spLocks/>
          </p:cNvSpPr>
          <p:nvPr/>
        </p:nvSpPr>
        <p:spPr>
          <a:xfrm>
            <a:off x="6161193" y="3209037"/>
            <a:ext cx="678221" cy="32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Poppins SemiBold"/>
              <a:buNone/>
              <a:defRPr sz="23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Poppins SemiBold"/>
              <a:buNone/>
              <a:defRPr sz="25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Poppins SemiBold"/>
              <a:buNone/>
              <a:defRPr sz="25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Poppins SemiBold"/>
              <a:buNone/>
              <a:defRPr sz="25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Poppins SemiBold"/>
              <a:buNone/>
              <a:defRPr sz="25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Poppins SemiBold"/>
              <a:buNone/>
              <a:defRPr sz="25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Poppins SemiBold"/>
              <a:buNone/>
              <a:defRPr sz="25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Poppins SemiBold"/>
              <a:buNone/>
              <a:defRPr sz="25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Poppins SemiBold"/>
              <a:buNone/>
              <a:defRPr sz="25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r>
              <a:rPr lang="en" dirty="0"/>
              <a:t>0</a:t>
            </a:r>
            <a:r>
              <a:rPr lang="ru-RU" dirty="0"/>
              <a:t>4</a:t>
            </a:r>
            <a:endParaRPr lang="en" dirty="0"/>
          </a:p>
        </p:txBody>
      </p: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7A54C9A1-D8C0-2CBD-ACE1-18D2D9C3DC80}"/>
              </a:ext>
            </a:extLst>
          </p:cNvPr>
          <p:cNvCxnSpPr>
            <a:cxnSpLocks/>
          </p:cNvCxnSpPr>
          <p:nvPr/>
        </p:nvCxnSpPr>
        <p:spPr>
          <a:xfrm>
            <a:off x="6272179" y="3529142"/>
            <a:ext cx="341981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46"/>
          <p:cNvSpPr/>
          <p:nvPr/>
        </p:nvSpPr>
        <p:spPr>
          <a:xfrm>
            <a:off x="7740175" y="-790750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46"/>
          <p:cNvSpPr/>
          <p:nvPr/>
        </p:nvSpPr>
        <p:spPr>
          <a:xfrm>
            <a:off x="8736600" y="220750"/>
            <a:ext cx="637500" cy="6375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239;p33">
            <a:extLst>
              <a:ext uri="{FF2B5EF4-FFF2-40B4-BE49-F238E27FC236}">
                <a16:creationId xmlns:a16="http://schemas.microsoft.com/office/drawing/2014/main" id="{9B0F7ECC-25E5-39FB-CDD4-7B1B241C2145}"/>
              </a:ext>
            </a:extLst>
          </p:cNvPr>
          <p:cNvSpPr/>
          <p:nvPr/>
        </p:nvSpPr>
        <p:spPr>
          <a:xfrm>
            <a:off x="8396682" y="4443016"/>
            <a:ext cx="900000" cy="9000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458;p41">
            <a:extLst>
              <a:ext uri="{FF2B5EF4-FFF2-40B4-BE49-F238E27FC236}">
                <a16:creationId xmlns:a16="http://schemas.microsoft.com/office/drawing/2014/main" id="{96A4087B-EECC-E028-4B31-F7AFF00FCFF3}"/>
              </a:ext>
            </a:extLst>
          </p:cNvPr>
          <p:cNvSpPr txBox="1">
            <a:spLocks/>
          </p:cNvSpPr>
          <p:nvPr/>
        </p:nvSpPr>
        <p:spPr>
          <a:xfrm>
            <a:off x="8318367" y="4473496"/>
            <a:ext cx="985935" cy="754000"/>
          </a:xfrm>
          <a:prstGeom prst="rect">
            <a:avLst/>
          </a:prstGeom>
          <a:effectLst>
            <a:outerShdw blurRad="50800" dist="50800" dir="2700000" algn="ctr" rotWithShape="0">
              <a:sysClr val="windowText" lastClr="000000"/>
            </a:outerShdw>
          </a:effectLst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defPPr>
              <a:defRPr lang="en-UA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" sz="2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+mn-cs"/>
              </a:rPr>
              <a:t>/13</a:t>
            </a:r>
            <a:endParaRPr kumimoji="0" lang="en" sz="2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 SemiBold" panose="00000700000000000000" pitchFamily="2" charset="-52"/>
              <a:ea typeface="+mn-ea"/>
              <a:cs typeface="+mn-cs"/>
            </a:endParaRPr>
          </a:p>
        </p:txBody>
      </p:sp>
      <p:sp>
        <p:nvSpPr>
          <p:cNvPr id="6" name="Google Shape;456;p41">
            <a:extLst>
              <a:ext uri="{FF2B5EF4-FFF2-40B4-BE49-F238E27FC236}">
                <a16:creationId xmlns:a16="http://schemas.microsoft.com/office/drawing/2014/main" id="{AD0AFEF2-1229-D6D0-14A4-8882208104AE}"/>
              </a:ext>
            </a:extLst>
          </p:cNvPr>
          <p:cNvSpPr txBox="1">
            <a:spLocks/>
          </p:cNvSpPr>
          <p:nvPr/>
        </p:nvSpPr>
        <p:spPr>
          <a:xfrm>
            <a:off x="1485900" y="170900"/>
            <a:ext cx="6172200" cy="717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37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pPr algn="ctr"/>
            <a:r>
              <a:rPr lang="ru-RU" sz="3000" b="1" dirty="0">
                <a:latin typeface="Montserrat Medium" panose="00000600000000000000" pitchFamily="2" charset="-52"/>
              </a:rPr>
              <a:t>Обзор существующих систем</a:t>
            </a:r>
          </a:p>
        </p:txBody>
      </p:sp>
      <p:graphicFrame>
        <p:nvGraphicFramePr>
          <p:cNvPr id="7" name="Google Shape;686;p53">
            <a:extLst>
              <a:ext uri="{FF2B5EF4-FFF2-40B4-BE49-F238E27FC236}">
                <a16:creationId xmlns:a16="http://schemas.microsoft.com/office/drawing/2014/main" id="{8949B71D-43CC-C9E0-395F-277472B2106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8155342"/>
              </p:ext>
            </p:extLst>
          </p:nvPr>
        </p:nvGraphicFramePr>
        <p:xfrm>
          <a:off x="730762" y="1377641"/>
          <a:ext cx="7682475" cy="2682090"/>
        </p:xfrm>
        <a:graphic>
          <a:graphicData uri="http://schemas.openxmlformats.org/drawingml/2006/table">
            <a:tbl>
              <a:tblPr>
                <a:noFill/>
                <a:tableStyleId>{A1CD74CB-B847-4CD3-9C96-A8A59978FF04}</a:tableStyleId>
              </a:tblPr>
              <a:tblGrid>
                <a:gridCol w="1577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6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9375">
                  <a:extLst>
                    <a:ext uri="{9D8B030D-6E8A-4147-A177-3AD203B41FA5}">
                      <a16:colId xmlns:a16="http://schemas.microsoft.com/office/drawing/2014/main" val="3234244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 dirty="0">
                          <a:solidFill>
                            <a:schemeClr val="accent2"/>
                          </a:solidFill>
                          <a:latin typeface="Montserrat Medium" panose="00000600000000000000" pitchFamily="2" charset="-52"/>
                          <a:ea typeface="Poppins SemiBold"/>
                          <a:cs typeface="Poppins SemiBold"/>
                          <a:sym typeface="Poppins SemiBold"/>
                        </a:rPr>
                        <a:t>Система</a:t>
                      </a:r>
                      <a:endParaRPr sz="1800" dirty="0">
                        <a:solidFill>
                          <a:schemeClr val="accent2"/>
                        </a:solidFill>
                        <a:latin typeface="Montserrat Medium" panose="00000600000000000000" pitchFamily="2" charset="-52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 dirty="0">
                          <a:solidFill>
                            <a:schemeClr val="accent2"/>
                          </a:solidFill>
                          <a:latin typeface="Montserrat Medium" panose="00000600000000000000" pitchFamily="2" charset="-52"/>
                          <a:ea typeface="Poppins SemiBold"/>
                          <a:cs typeface="Poppins SemiBold"/>
                          <a:sym typeface="Poppins SemiBold"/>
                        </a:rPr>
                        <a:t>Персонализация</a:t>
                      </a:r>
                      <a:endParaRPr sz="1800" dirty="0">
                        <a:solidFill>
                          <a:schemeClr val="accent2"/>
                        </a:solidFill>
                        <a:latin typeface="Montserrat Medium" panose="00000600000000000000" pitchFamily="2" charset="-52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 dirty="0">
                          <a:solidFill>
                            <a:schemeClr val="accent2"/>
                          </a:solidFill>
                          <a:latin typeface="Montserrat Medium" panose="00000600000000000000" pitchFamily="2" charset="-52"/>
                          <a:ea typeface="Poppins SemiBold"/>
                          <a:cs typeface="Poppins SemiBold"/>
                          <a:sym typeface="Poppins SemiBold"/>
                        </a:rPr>
                        <a:t>Критерии</a:t>
                      </a:r>
                      <a:endParaRPr sz="1800" dirty="0">
                        <a:solidFill>
                          <a:schemeClr val="accent2"/>
                        </a:solidFill>
                        <a:latin typeface="Montserrat Medium" panose="00000600000000000000" pitchFamily="2" charset="-52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 dirty="0">
                          <a:solidFill>
                            <a:schemeClr val="accent2"/>
                          </a:solidFill>
                          <a:latin typeface="Montserrat Medium" panose="00000600000000000000" pitchFamily="2" charset="-52"/>
                          <a:ea typeface="Poppins SemiBold"/>
                          <a:cs typeface="Poppins SemiBold"/>
                          <a:sym typeface="Poppins SemiBold"/>
                        </a:rPr>
                        <a:t>Недостаток</a:t>
                      </a:r>
                      <a:endParaRPr sz="1800" dirty="0">
                        <a:solidFill>
                          <a:schemeClr val="accent2"/>
                        </a:solidFill>
                        <a:latin typeface="Montserrat Medium" panose="00000600000000000000" pitchFamily="2" charset="-52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 err="1">
                          <a:solidFill>
                            <a:schemeClr val="accent2"/>
                          </a:solidFill>
                          <a:latin typeface="Montserrat Light" panose="00000400000000000000" pitchFamily="2" charset="-52"/>
                        </a:rPr>
                        <a:t>Numbeo</a:t>
                      </a:r>
                      <a:endParaRPr b="1" dirty="0">
                        <a:solidFill>
                          <a:schemeClr val="accent2"/>
                        </a:solidFill>
                        <a:latin typeface="Montserrat Light" panose="00000400000000000000" pitchFamily="2" charset="-52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>
                          <a:solidFill>
                            <a:schemeClr val="accent2"/>
                          </a:solidFill>
                          <a:latin typeface="Montserrat Light" panose="00000400000000000000" pitchFamily="2" charset="-52"/>
                          <a:ea typeface="Poppins"/>
                          <a:cs typeface="Poppins"/>
                          <a:sym typeface="Poppins"/>
                        </a:rPr>
                        <a:t>Нет</a:t>
                      </a:r>
                      <a:endParaRPr dirty="0">
                        <a:solidFill>
                          <a:schemeClr val="accent2"/>
                        </a:solidFill>
                        <a:latin typeface="Montserrat Light" panose="00000400000000000000" pitchFamily="2" charset="-52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>
                          <a:solidFill>
                            <a:schemeClr val="accent2"/>
                          </a:solidFill>
                          <a:latin typeface="Montserrat Light" panose="00000400000000000000" pitchFamily="2" charset="-52"/>
                          <a:ea typeface="Poppins"/>
                          <a:cs typeface="Poppins"/>
                          <a:sym typeface="Poppins"/>
                        </a:rPr>
                        <a:t>8</a:t>
                      </a:r>
                      <a:endParaRPr dirty="0">
                        <a:solidFill>
                          <a:schemeClr val="accent2"/>
                        </a:solidFill>
                        <a:latin typeface="Montserrat Light" panose="00000400000000000000" pitchFamily="2" charset="-52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>
                          <a:solidFill>
                            <a:schemeClr val="accent2"/>
                          </a:solidFill>
                          <a:latin typeface="Montserrat Light" panose="00000400000000000000" pitchFamily="2" charset="-52"/>
                          <a:ea typeface="Poppins"/>
                          <a:cs typeface="Poppins"/>
                          <a:sym typeface="Poppins"/>
                        </a:rPr>
                        <a:t>Фиксированные веса</a:t>
                      </a:r>
                      <a:endParaRPr dirty="0">
                        <a:solidFill>
                          <a:schemeClr val="accent2"/>
                        </a:solidFill>
                        <a:latin typeface="Montserrat Light" panose="00000400000000000000" pitchFamily="2" charset="-52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 err="1">
                          <a:solidFill>
                            <a:schemeClr val="accent2"/>
                          </a:solidFill>
                          <a:latin typeface="Montserrat Light" panose="00000400000000000000" pitchFamily="2" charset="-52"/>
                        </a:rPr>
                        <a:t>Nomadlist</a:t>
                      </a:r>
                      <a:endParaRPr b="1" dirty="0">
                        <a:solidFill>
                          <a:schemeClr val="accent2"/>
                        </a:solidFill>
                        <a:latin typeface="Montserrat Light" panose="00000400000000000000" pitchFamily="2" charset="-52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>
                          <a:solidFill>
                            <a:schemeClr val="accent2"/>
                          </a:solidFill>
                          <a:latin typeface="Montserrat Light" panose="00000400000000000000" pitchFamily="2" charset="-52"/>
                          <a:ea typeface="Poppins"/>
                          <a:cs typeface="Poppins"/>
                          <a:sym typeface="Poppins"/>
                        </a:rPr>
                        <a:t>Частично</a:t>
                      </a:r>
                      <a:endParaRPr dirty="0">
                        <a:solidFill>
                          <a:schemeClr val="accent2"/>
                        </a:solidFill>
                        <a:latin typeface="Montserrat Light" panose="00000400000000000000" pitchFamily="2" charset="-52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>
                          <a:solidFill>
                            <a:schemeClr val="accent2"/>
                          </a:solidFill>
                          <a:latin typeface="Montserrat Light" panose="00000400000000000000" pitchFamily="2" charset="-52"/>
                          <a:ea typeface="Poppins"/>
                          <a:cs typeface="Poppins"/>
                          <a:sym typeface="Poppins"/>
                        </a:rPr>
                        <a:t>5</a:t>
                      </a:r>
                      <a:endParaRPr dirty="0">
                        <a:solidFill>
                          <a:schemeClr val="accent2"/>
                        </a:solidFill>
                        <a:latin typeface="Montserrat Light" panose="00000400000000000000" pitchFamily="2" charset="-52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>
                          <a:solidFill>
                            <a:schemeClr val="accent2"/>
                          </a:solidFill>
                          <a:latin typeface="Montserrat Light" panose="00000400000000000000" pitchFamily="2" charset="-52"/>
                          <a:ea typeface="Poppins"/>
                          <a:cs typeface="Poppins"/>
                          <a:sym typeface="Poppins"/>
                        </a:rPr>
                        <a:t>Непрозрачная методика</a:t>
                      </a:r>
                      <a:endParaRPr dirty="0">
                        <a:solidFill>
                          <a:schemeClr val="accent2"/>
                        </a:solidFill>
                        <a:latin typeface="Montserrat Light" panose="00000400000000000000" pitchFamily="2" charset="-52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solidFill>
                            <a:schemeClr val="accent2"/>
                          </a:solidFill>
                          <a:latin typeface="Montserrat Light" panose="00000400000000000000" pitchFamily="2" charset="-52"/>
                        </a:rPr>
                        <a:t>The Earth Awaits</a:t>
                      </a:r>
                      <a:endParaRPr b="1" dirty="0">
                        <a:solidFill>
                          <a:schemeClr val="accent2"/>
                        </a:solidFill>
                        <a:latin typeface="Montserrat Light" panose="00000400000000000000" pitchFamily="2" charset="-52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>
                          <a:solidFill>
                            <a:schemeClr val="accent2"/>
                          </a:solidFill>
                          <a:latin typeface="Montserrat Light" panose="00000400000000000000" pitchFamily="2" charset="-52"/>
                          <a:ea typeface="Poppins"/>
                          <a:cs typeface="Poppins"/>
                          <a:sym typeface="Poppins"/>
                        </a:rPr>
                        <a:t>Нет</a:t>
                      </a:r>
                      <a:endParaRPr dirty="0">
                        <a:solidFill>
                          <a:schemeClr val="accent2"/>
                        </a:solidFill>
                        <a:latin typeface="Montserrat Light" panose="00000400000000000000" pitchFamily="2" charset="-52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>
                          <a:solidFill>
                            <a:schemeClr val="accent2"/>
                          </a:solidFill>
                          <a:latin typeface="Montserrat Light" panose="00000400000000000000" pitchFamily="2" charset="-52"/>
                          <a:ea typeface="Poppins"/>
                          <a:cs typeface="Poppins"/>
                          <a:sym typeface="Poppins"/>
                        </a:rPr>
                        <a:t>3</a:t>
                      </a:r>
                      <a:endParaRPr dirty="0">
                        <a:solidFill>
                          <a:schemeClr val="accent2"/>
                        </a:solidFill>
                        <a:latin typeface="Montserrat Light" panose="00000400000000000000" pitchFamily="2" charset="-52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>
                          <a:solidFill>
                            <a:schemeClr val="accent2"/>
                          </a:solidFill>
                          <a:latin typeface="Montserrat Light" panose="00000400000000000000" pitchFamily="2" charset="-52"/>
                          <a:ea typeface="Poppins"/>
                          <a:cs typeface="Poppins"/>
                          <a:sym typeface="Poppins"/>
                        </a:rPr>
                        <a:t>Только фильтрация</a:t>
                      </a:r>
                      <a:endParaRPr dirty="0">
                        <a:solidFill>
                          <a:schemeClr val="accent2"/>
                        </a:solidFill>
                        <a:latin typeface="Montserrat Light" panose="00000400000000000000" pitchFamily="2" charset="-52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 err="1">
                          <a:solidFill>
                            <a:schemeClr val="accent2"/>
                          </a:solidFill>
                          <a:latin typeface="Montserrat Light" panose="00000400000000000000" pitchFamily="2" charset="-52"/>
                        </a:rPr>
                        <a:t>Expatistan</a:t>
                      </a:r>
                      <a:r>
                        <a:rPr lang="en-US" b="1" dirty="0">
                          <a:solidFill>
                            <a:schemeClr val="accent2"/>
                          </a:solidFill>
                          <a:latin typeface="Montserrat Light" panose="00000400000000000000" pitchFamily="2" charset="-52"/>
                        </a:rPr>
                        <a:t> </a:t>
                      </a:r>
                      <a:endParaRPr b="1" dirty="0">
                        <a:solidFill>
                          <a:schemeClr val="accent2"/>
                        </a:solidFill>
                        <a:latin typeface="Montserrat Light" panose="00000400000000000000" pitchFamily="2" charset="-52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>
                          <a:solidFill>
                            <a:schemeClr val="accent2"/>
                          </a:solidFill>
                          <a:latin typeface="Montserrat Light" panose="00000400000000000000" pitchFamily="2" charset="-52"/>
                          <a:ea typeface="Poppins"/>
                          <a:cs typeface="Poppins"/>
                          <a:sym typeface="Poppins"/>
                        </a:rPr>
                        <a:t>Нет</a:t>
                      </a:r>
                      <a:endParaRPr dirty="0">
                        <a:solidFill>
                          <a:schemeClr val="accent2"/>
                        </a:solidFill>
                        <a:latin typeface="Montserrat Light" panose="00000400000000000000" pitchFamily="2" charset="-52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>
                          <a:solidFill>
                            <a:schemeClr val="accent2"/>
                          </a:solidFill>
                          <a:latin typeface="Montserrat Light" panose="00000400000000000000" pitchFamily="2" charset="-52"/>
                          <a:ea typeface="Poppins"/>
                          <a:cs typeface="Poppins"/>
                          <a:sym typeface="Poppins"/>
                        </a:rPr>
                        <a:t>1</a:t>
                      </a:r>
                      <a:endParaRPr dirty="0">
                        <a:solidFill>
                          <a:schemeClr val="accent2"/>
                        </a:solidFill>
                        <a:latin typeface="Montserrat Light" panose="00000400000000000000" pitchFamily="2" charset="-52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>
                          <a:solidFill>
                            <a:schemeClr val="accent2"/>
                          </a:solidFill>
                          <a:latin typeface="Montserrat Light" panose="00000400000000000000" pitchFamily="2" charset="-52"/>
                          <a:ea typeface="Poppins"/>
                          <a:cs typeface="Poppins"/>
                          <a:sym typeface="Poppins"/>
                        </a:rPr>
                        <a:t>Только стоимость</a:t>
                      </a:r>
                      <a:endParaRPr dirty="0">
                        <a:solidFill>
                          <a:schemeClr val="accent2"/>
                        </a:solidFill>
                        <a:latin typeface="Montserrat Light" panose="00000400000000000000" pitchFamily="2" charset="-52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2687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8609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3"/>
          <p:cNvSpPr/>
          <p:nvPr/>
        </p:nvSpPr>
        <p:spPr>
          <a:xfrm>
            <a:off x="8396682" y="4443016"/>
            <a:ext cx="900000" cy="9000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456;p41">
            <a:extLst>
              <a:ext uri="{FF2B5EF4-FFF2-40B4-BE49-F238E27FC236}">
                <a16:creationId xmlns:a16="http://schemas.microsoft.com/office/drawing/2014/main" id="{0B7F3FF6-2A12-A96D-EF15-9484E782BCAE}"/>
              </a:ext>
            </a:extLst>
          </p:cNvPr>
          <p:cNvSpPr txBox="1">
            <a:spLocks/>
          </p:cNvSpPr>
          <p:nvPr/>
        </p:nvSpPr>
        <p:spPr>
          <a:xfrm>
            <a:off x="1064019" y="162928"/>
            <a:ext cx="7114406" cy="717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37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pPr algn="ctr"/>
            <a:r>
              <a:rPr lang="ru-RU" sz="3000" b="1" dirty="0">
                <a:latin typeface="Montserrat Medium" panose="00000600000000000000" pitchFamily="2" charset="-52"/>
              </a:rPr>
              <a:t>Методы и технологии реализации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22F65D-792E-A879-380C-E8AC4D0AAE85}"/>
              </a:ext>
            </a:extLst>
          </p:cNvPr>
          <p:cNvSpPr txBox="1"/>
          <p:nvPr/>
        </p:nvSpPr>
        <p:spPr>
          <a:xfrm>
            <a:off x="722724" y="964348"/>
            <a:ext cx="7673958" cy="160492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25000"/>
              </a:lnSpc>
            </a:pPr>
            <a:r>
              <a:rPr lang="ru-RU" sz="1600" dirty="0">
                <a:latin typeface="Montserrat Medium" panose="00000600000000000000" pitchFamily="2" charset="-52"/>
                <a:sym typeface="Symbol" panose="05050102010706020507" pitchFamily="18" charset="2"/>
              </a:rPr>
              <a:t>Методы расчёта:</a:t>
            </a:r>
          </a:p>
          <a:p>
            <a:pPr>
              <a:lnSpc>
                <a:spcPct val="125000"/>
              </a:lnSpc>
            </a:pPr>
            <a:r>
              <a:rPr lang="ru-RU" sz="1600" dirty="0">
                <a:latin typeface="Montserrat Medium" panose="00000600000000000000" pitchFamily="2" charset="-52"/>
                <a:sym typeface="Symbol" panose="05050102010706020507" pitchFamily="18" charset="2"/>
              </a:rPr>
              <a:t>1. </a:t>
            </a:r>
            <a:r>
              <a:rPr lang="en-US" sz="1600" dirty="0">
                <a:latin typeface="Montserrat Light" panose="00000400000000000000" pitchFamily="2" charset="-52"/>
                <a:sym typeface="Symbol" panose="05050102010706020507" pitchFamily="18" charset="2"/>
              </a:rPr>
              <a:t>WSM (Weighted Sum Model) – </a:t>
            </a:r>
            <a:r>
              <a:rPr lang="ru-RU" sz="1600" dirty="0">
                <a:latin typeface="Montserrat Light" panose="00000400000000000000" pitchFamily="2" charset="-52"/>
                <a:sym typeface="Symbol" panose="05050102010706020507" pitchFamily="18" charset="2"/>
              </a:rPr>
              <a:t>взвешенная сумма</a:t>
            </a:r>
          </a:p>
          <a:p>
            <a:pPr>
              <a:lnSpc>
                <a:spcPct val="125000"/>
              </a:lnSpc>
            </a:pPr>
            <a:r>
              <a:rPr lang="ru-RU" sz="1600" dirty="0">
                <a:latin typeface="Montserrat Medium" panose="00000600000000000000" pitchFamily="2" charset="-52"/>
                <a:sym typeface="Symbol" panose="05050102010706020507" pitchFamily="18" charset="2"/>
              </a:rPr>
              <a:t>2. </a:t>
            </a:r>
            <a:r>
              <a:rPr lang="en-US" sz="1600" dirty="0">
                <a:latin typeface="Montserrat Light" panose="00000400000000000000" pitchFamily="2" charset="-52"/>
                <a:sym typeface="Symbol" panose="05050102010706020507" pitchFamily="18" charset="2"/>
              </a:rPr>
              <a:t>TOPSIS –</a:t>
            </a:r>
            <a:r>
              <a:rPr lang="en-US" sz="1600" dirty="0">
                <a:latin typeface="Montserrat Medium" panose="00000600000000000000" pitchFamily="2" charset="-52"/>
                <a:sym typeface="Symbol" panose="05050102010706020507" pitchFamily="18" charset="2"/>
              </a:rPr>
              <a:t> </a:t>
            </a:r>
            <a:r>
              <a:rPr lang="ru-RU" sz="1600" dirty="0">
                <a:latin typeface="Montserrat Light" panose="00000400000000000000" pitchFamily="2" charset="-52"/>
                <a:sym typeface="Symbol" panose="05050102010706020507" pitchFamily="18" charset="2"/>
              </a:rPr>
              <a:t>сравнение с идеальным решением</a:t>
            </a:r>
          </a:p>
          <a:p>
            <a:pPr>
              <a:lnSpc>
                <a:spcPct val="125000"/>
              </a:lnSpc>
            </a:pPr>
            <a:r>
              <a:rPr lang="ru-RU" sz="1600" dirty="0">
                <a:latin typeface="Montserrat Medium" panose="00000600000000000000" pitchFamily="2" charset="-52"/>
                <a:sym typeface="Symbol" panose="05050102010706020507" pitchFamily="18" charset="2"/>
              </a:rPr>
              <a:t>3. </a:t>
            </a:r>
            <a:r>
              <a:rPr lang="en-US" sz="1600" dirty="0">
                <a:latin typeface="Montserrat Light" panose="00000400000000000000" pitchFamily="2" charset="-52"/>
                <a:sym typeface="Symbol" panose="05050102010706020507" pitchFamily="18" charset="2"/>
              </a:rPr>
              <a:t>CBR (Case-Based Reasoning) – </a:t>
            </a:r>
            <a:r>
              <a:rPr lang="ru-RU" sz="1600" dirty="0">
                <a:latin typeface="Montserrat Light" panose="00000400000000000000" pitchFamily="2" charset="-52"/>
                <a:sym typeface="Symbol" panose="05050102010706020507" pitchFamily="18" charset="2"/>
              </a:rPr>
              <a:t>улучшение относительно текущего города</a:t>
            </a:r>
          </a:p>
        </p:txBody>
      </p:sp>
      <p:sp>
        <p:nvSpPr>
          <p:cNvPr id="14" name="Google Shape;458;p41">
            <a:extLst>
              <a:ext uri="{FF2B5EF4-FFF2-40B4-BE49-F238E27FC236}">
                <a16:creationId xmlns:a16="http://schemas.microsoft.com/office/drawing/2014/main" id="{536E4C98-20DA-3ED0-FB72-3F51BDCFFE29}"/>
              </a:ext>
            </a:extLst>
          </p:cNvPr>
          <p:cNvSpPr txBox="1">
            <a:spLocks/>
          </p:cNvSpPr>
          <p:nvPr/>
        </p:nvSpPr>
        <p:spPr>
          <a:xfrm>
            <a:off x="8318367" y="4473496"/>
            <a:ext cx="985935" cy="754000"/>
          </a:xfrm>
          <a:prstGeom prst="rect">
            <a:avLst/>
          </a:prstGeom>
          <a:effectLst>
            <a:outerShdw blurRad="50800" dist="50800" dir="2700000" algn="ctr" rotWithShape="0">
              <a:sysClr val="windowText" lastClr="000000"/>
            </a:outerShdw>
          </a:effectLst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defPPr>
              <a:defRPr lang="en-UA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" sz="2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+mn-cs"/>
              </a:rPr>
              <a:t>/13</a:t>
            </a:r>
            <a:endParaRPr kumimoji="0" lang="en" sz="2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 SemiBold" panose="00000700000000000000" pitchFamily="2" charset="-52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CE15D8-0A67-0C75-7D54-C4013C40E265}"/>
              </a:ext>
            </a:extLst>
          </p:cNvPr>
          <p:cNvSpPr txBox="1"/>
          <p:nvPr/>
        </p:nvSpPr>
        <p:spPr>
          <a:xfrm>
            <a:off x="722724" y="2870752"/>
            <a:ext cx="7673958" cy="160492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25000"/>
              </a:lnSpc>
            </a:pPr>
            <a:r>
              <a:rPr lang="ru-RU" sz="1600" dirty="0">
                <a:latin typeface="Montserrat Medium" panose="00000600000000000000" pitchFamily="2" charset="-52"/>
                <a:sym typeface="Symbol" panose="05050102010706020507" pitchFamily="18" charset="2"/>
              </a:rPr>
              <a:t>Клиентская часть = </a:t>
            </a:r>
            <a:r>
              <a:rPr lang="en-US" sz="1600" dirty="0">
                <a:latin typeface="Montserrat Light" panose="00000400000000000000" pitchFamily="2" charset="-52"/>
                <a:sym typeface="Symbol" panose="05050102010706020507" pitchFamily="18" charset="2"/>
              </a:rPr>
              <a:t>React.js + TypeScript + CSS</a:t>
            </a:r>
            <a:endParaRPr lang="ru-RU" sz="1600" dirty="0">
              <a:latin typeface="Montserrat Light" panose="00000400000000000000" pitchFamily="2" charset="-52"/>
              <a:sym typeface="Symbol" panose="05050102010706020507" pitchFamily="18" charset="2"/>
            </a:endParaRPr>
          </a:p>
          <a:p>
            <a:pPr>
              <a:lnSpc>
                <a:spcPct val="125000"/>
              </a:lnSpc>
            </a:pPr>
            <a:r>
              <a:rPr lang="en-US" sz="1600" dirty="0">
                <a:latin typeface="Montserrat Medium" panose="00000600000000000000" pitchFamily="2" charset="-52"/>
                <a:sym typeface="Symbol" panose="05050102010706020507" pitchFamily="18" charset="2"/>
              </a:rPr>
              <a:t>API Gateway</a:t>
            </a:r>
            <a:r>
              <a:rPr lang="ru-RU" sz="1600" dirty="0">
                <a:latin typeface="Montserrat Medium" panose="00000600000000000000" pitchFamily="2" charset="-52"/>
                <a:sym typeface="Symbol" panose="05050102010706020507" pitchFamily="18" charset="2"/>
              </a:rPr>
              <a:t> = </a:t>
            </a:r>
            <a:r>
              <a:rPr lang="en-US" sz="1600" dirty="0">
                <a:latin typeface="Montserrat Light" panose="00000400000000000000" pitchFamily="2" charset="-52"/>
                <a:sym typeface="Symbol" panose="05050102010706020507" pitchFamily="18" charset="2"/>
              </a:rPr>
              <a:t>Node.js + Express.js</a:t>
            </a:r>
          </a:p>
          <a:p>
            <a:pPr>
              <a:lnSpc>
                <a:spcPct val="125000"/>
              </a:lnSpc>
            </a:pPr>
            <a:r>
              <a:rPr lang="ru-RU" sz="1600" dirty="0">
                <a:latin typeface="Montserrat Medium" panose="00000600000000000000" pitchFamily="2" charset="-52"/>
                <a:sym typeface="Symbol" panose="05050102010706020507" pitchFamily="18" charset="2"/>
              </a:rPr>
              <a:t>Вычислительное ядро = </a:t>
            </a:r>
            <a:r>
              <a:rPr lang="en-US" sz="1600" dirty="0">
                <a:latin typeface="Montserrat Light" panose="00000400000000000000" pitchFamily="2" charset="-52"/>
                <a:sym typeface="Symbol" panose="05050102010706020507" pitchFamily="18" charset="2"/>
              </a:rPr>
              <a:t>Python + Flask + NumPy</a:t>
            </a:r>
            <a:endParaRPr lang="ru-RU" sz="1600" dirty="0">
              <a:latin typeface="Montserrat Light" panose="00000400000000000000" pitchFamily="2" charset="-52"/>
              <a:sym typeface="Symbol" panose="05050102010706020507" pitchFamily="18" charset="2"/>
            </a:endParaRPr>
          </a:p>
          <a:p>
            <a:pPr>
              <a:lnSpc>
                <a:spcPct val="125000"/>
              </a:lnSpc>
            </a:pPr>
            <a:r>
              <a:rPr lang="ru-RU" sz="1600" dirty="0">
                <a:latin typeface="Montserrat Medium" panose="00000600000000000000" pitchFamily="2" charset="-52"/>
                <a:sym typeface="Symbol" panose="05050102010706020507" pitchFamily="18" charset="2"/>
              </a:rPr>
              <a:t>База данных = </a:t>
            </a:r>
            <a:r>
              <a:rPr lang="en-US" sz="1600" dirty="0">
                <a:latin typeface="Montserrat Light" panose="00000400000000000000" pitchFamily="2" charset="-52"/>
                <a:sym typeface="Symbol" panose="05050102010706020507" pitchFamily="18" charset="2"/>
              </a:rPr>
              <a:t>PostgreSQL</a:t>
            </a:r>
            <a:endParaRPr lang="ru-RU" sz="1600" dirty="0">
              <a:latin typeface="Montserrat Light" panose="00000400000000000000" pitchFamily="2" charset="-52"/>
              <a:sym typeface="Symbol" panose="05050102010706020507" pitchFamily="18" charset="2"/>
            </a:endParaRPr>
          </a:p>
          <a:p>
            <a:pPr>
              <a:lnSpc>
                <a:spcPct val="125000"/>
              </a:lnSpc>
            </a:pPr>
            <a:r>
              <a:rPr lang="ru-RU" sz="1600" dirty="0" err="1">
                <a:latin typeface="Montserrat Medium" panose="00000600000000000000" pitchFamily="2" charset="-52"/>
                <a:sym typeface="Symbol" panose="05050102010706020507" pitchFamily="18" charset="2"/>
              </a:rPr>
              <a:t>Парсинг</a:t>
            </a:r>
            <a:r>
              <a:rPr lang="ru-RU" sz="1600" dirty="0">
                <a:latin typeface="Montserrat Medium" panose="00000600000000000000" pitchFamily="2" charset="-52"/>
                <a:sym typeface="Symbol" panose="05050102010706020507" pitchFamily="18" charset="2"/>
              </a:rPr>
              <a:t> данных = </a:t>
            </a:r>
            <a:r>
              <a:rPr lang="en-US" sz="1600" dirty="0" err="1">
                <a:latin typeface="Montserrat Light" panose="00000400000000000000" pitchFamily="2" charset="-52"/>
                <a:sym typeface="Symbol" panose="05050102010706020507" pitchFamily="18" charset="2"/>
              </a:rPr>
              <a:t>Axios</a:t>
            </a:r>
            <a:r>
              <a:rPr lang="en-US" sz="1600" dirty="0">
                <a:latin typeface="Montserrat Light" panose="00000400000000000000" pitchFamily="2" charset="-52"/>
                <a:sym typeface="Symbol" panose="05050102010706020507" pitchFamily="18" charset="2"/>
              </a:rPr>
              <a:t> + Cheerio</a:t>
            </a:r>
            <a:endParaRPr lang="ru-RU" sz="1600" dirty="0">
              <a:latin typeface="Montserrat Light" panose="00000400000000000000" pitchFamily="2" charset="-52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977106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56;p41">
            <a:extLst>
              <a:ext uri="{FF2B5EF4-FFF2-40B4-BE49-F238E27FC236}">
                <a16:creationId xmlns:a16="http://schemas.microsoft.com/office/drawing/2014/main" id="{87772D1D-6396-9281-31E6-CE8B97A7C3AA}"/>
              </a:ext>
            </a:extLst>
          </p:cNvPr>
          <p:cNvSpPr txBox="1">
            <a:spLocks/>
          </p:cNvSpPr>
          <p:nvPr/>
        </p:nvSpPr>
        <p:spPr>
          <a:xfrm>
            <a:off x="1775460" y="165857"/>
            <a:ext cx="5593080" cy="717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37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pPr algn="ctr"/>
            <a:r>
              <a:rPr lang="ru-RU" sz="3000" b="1" dirty="0">
                <a:latin typeface="Montserrat Medium" panose="00000600000000000000" pitchFamily="2" charset="-52"/>
              </a:rPr>
              <a:t>Архитектура системы</a:t>
            </a:r>
          </a:p>
        </p:txBody>
      </p:sp>
      <p:sp>
        <p:nvSpPr>
          <p:cNvPr id="5" name="Google Shape;239;p33">
            <a:extLst>
              <a:ext uri="{FF2B5EF4-FFF2-40B4-BE49-F238E27FC236}">
                <a16:creationId xmlns:a16="http://schemas.microsoft.com/office/drawing/2014/main" id="{7168B579-DCC4-41A8-B521-648284182181}"/>
              </a:ext>
            </a:extLst>
          </p:cNvPr>
          <p:cNvSpPr/>
          <p:nvPr/>
        </p:nvSpPr>
        <p:spPr>
          <a:xfrm>
            <a:off x="8396682" y="4443016"/>
            <a:ext cx="900000" cy="9000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458;p41">
            <a:extLst>
              <a:ext uri="{FF2B5EF4-FFF2-40B4-BE49-F238E27FC236}">
                <a16:creationId xmlns:a16="http://schemas.microsoft.com/office/drawing/2014/main" id="{295449B1-03FB-E306-6866-C11AF0A61A15}"/>
              </a:ext>
            </a:extLst>
          </p:cNvPr>
          <p:cNvSpPr txBox="1">
            <a:spLocks/>
          </p:cNvSpPr>
          <p:nvPr/>
        </p:nvSpPr>
        <p:spPr>
          <a:xfrm>
            <a:off x="8318367" y="4473496"/>
            <a:ext cx="985935" cy="754000"/>
          </a:xfrm>
          <a:prstGeom prst="rect">
            <a:avLst/>
          </a:prstGeom>
          <a:effectLst>
            <a:outerShdw blurRad="50800" dist="50800" dir="2700000" algn="ctr" rotWithShape="0">
              <a:sysClr val="windowText" lastClr="000000"/>
            </a:outerShdw>
          </a:effectLst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defPPr>
              <a:defRPr lang="en-UA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" sz="2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+mn-cs"/>
              </a:rPr>
              <a:t>/13</a:t>
            </a:r>
            <a:endParaRPr kumimoji="0" lang="en" sz="2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 SemiBold" panose="00000700000000000000" pitchFamily="2" charset="-52"/>
              <a:ea typeface="+mn-ea"/>
              <a:cs typeface="+mn-cs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F3F69D7-6469-2074-EFE8-C3E1D4D0BDD6}"/>
              </a:ext>
            </a:extLst>
          </p:cNvPr>
          <p:cNvSpPr/>
          <p:nvPr/>
        </p:nvSpPr>
        <p:spPr>
          <a:xfrm>
            <a:off x="701040" y="1314220"/>
            <a:ext cx="1508760" cy="784859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accent2"/>
                </a:solidFill>
                <a:latin typeface="Montserrat Medium" panose="00000600000000000000" pitchFamily="2" charset="-52"/>
              </a:rPr>
              <a:t>Пользователь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CEF9BAA-1CEC-F055-FF3A-C38181361E0A}"/>
              </a:ext>
            </a:extLst>
          </p:cNvPr>
          <p:cNvSpPr/>
          <p:nvPr/>
        </p:nvSpPr>
        <p:spPr>
          <a:xfrm>
            <a:off x="2788920" y="1314220"/>
            <a:ext cx="1508760" cy="784859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accent2"/>
                </a:solidFill>
                <a:latin typeface="Montserrat Medium" panose="00000600000000000000" pitchFamily="2" charset="-52"/>
              </a:rPr>
              <a:t>Клиент 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9374C30C-8C8D-F2AF-4B7C-7C88B08E2DF4}"/>
              </a:ext>
            </a:extLst>
          </p:cNvPr>
          <p:cNvSpPr/>
          <p:nvPr/>
        </p:nvSpPr>
        <p:spPr>
          <a:xfrm>
            <a:off x="4876800" y="1314220"/>
            <a:ext cx="1508760" cy="784858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Montserrat Medium" panose="00000600000000000000" pitchFamily="2" charset="-52"/>
              </a:rPr>
              <a:t>Node.js</a:t>
            </a:r>
            <a:r>
              <a:rPr lang="ru-RU" dirty="0">
                <a:solidFill>
                  <a:schemeClr val="accent2"/>
                </a:solidFill>
                <a:latin typeface="Montserrat Medium" panose="00000600000000000000" pitchFamily="2" charset="-52"/>
              </a:rPr>
              <a:t> 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9E028FF-67BA-E7F2-14FA-1248DC11B0E6}"/>
              </a:ext>
            </a:extLst>
          </p:cNvPr>
          <p:cNvSpPr/>
          <p:nvPr/>
        </p:nvSpPr>
        <p:spPr>
          <a:xfrm>
            <a:off x="6964680" y="1310414"/>
            <a:ext cx="1508760" cy="784858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Montserrat Medium" panose="00000600000000000000" pitchFamily="2" charset="-52"/>
              </a:rPr>
              <a:t>Python</a:t>
            </a:r>
            <a:endParaRPr lang="ru-RU" dirty="0">
              <a:solidFill>
                <a:schemeClr val="accent2"/>
              </a:solidFill>
              <a:latin typeface="Montserrat Medium" panose="00000600000000000000" pitchFamily="2" charset="-52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4FA7E2B-9FDD-767A-3DF7-46BFA4F45E9F}"/>
              </a:ext>
            </a:extLst>
          </p:cNvPr>
          <p:cNvSpPr/>
          <p:nvPr/>
        </p:nvSpPr>
        <p:spPr>
          <a:xfrm>
            <a:off x="4876800" y="3337561"/>
            <a:ext cx="1508760" cy="784858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accent2"/>
                </a:solidFill>
                <a:latin typeface="Montserrat Medium" panose="00000600000000000000" pitchFamily="2" charset="-52"/>
              </a:rPr>
              <a:t>История</a:t>
            </a:r>
          </a:p>
          <a:p>
            <a:pPr algn="ctr"/>
            <a:r>
              <a:rPr lang="ru-RU" dirty="0">
                <a:solidFill>
                  <a:schemeClr val="accent2"/>
                </a:solidFill>
                <a:latin typeface="Montserrat Medium" panose="00000600000000000000" pitchFamily="2" charset="-52"/>
              </a:rPr>
              <a:t>(БД)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F35F8896-5A4F-B707-98D8-C105FD5FC705}"/>
              </a:ext>
            </a:extLst>
          </p:cNvPr>
          <p:cNvSpPr/>
          <p:nvPr/>
        </p:nvSpPr>
        <p:spPr>
          <a:xfrm>
            <a:off x="6964680" y="3345190"/>
            <a:ext cx="1508760" cy="784858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Montserrat Medium" panose="00000600000000000000" pitchFamily="2" charset="-52"/>
              </a:rPr>
              <a:t>PostgreSQL</a:t>
            </a:r>
            <a:endParaRPr lang="ru-RU" dirty="0">
              <a:solidFill>
                <a:schemeClr val="accent2"/>
              </a:solidFill>
              <a:latin typeface="Montserrat Medium" panose="00000600000000000000" pitchFamily="2" charset="-52"/>
            </a:endParaRPr>
          </a:p>
          <a:p>
            <a:pPr algn="ctr"/>
            <a:r>
              <a:rPr lang="ru-RU" dirty="0">
                <a:solidFill>
                  <a:schemeClr val="accent2"/>
                </a:solidFill>
                <a:latin typeface="Montserrat Medium" panose="00000600000000000000" pitchFamily="2" charset="-52"/>
              </a:rPr>
              <a:t>(города)</a:t>
            </a:r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36471E61-BD29-F7EA-D350-232CA77D39DE}"/>
              </a:ext>
            </a:extLst>
          </p:cNvPr>
          <p:cNvCxnSpPr>
            <a:cxnSpLocks/>
          </p:cNvCxnSpPr>
          <p:nvPr/>
        </p:nvCxnSpPr>
        <p:spPr>
          <a:xfrm>
            <a:off x="2209800" y="1866900"/>
            <a:ext cx="579120" cy="0"/>
          </a:xfrm>
          <a:prstGeom prst="line">
            <a:avLst/>
          </a:prstGeom>
          <a:ln w="12700">
            <a:solidFill>
              <a:schemeClr val="accent2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93CA62CF-B192-5D58-EFFB-72B4498E213B}"/>
              </a:ext>
            </a:extLst>
          </p:cNvPr>
          <p:cNvCxnSpPr>
            <a:cxnSpLocks/>
          </p:cNvCxnSpPr>
          <p:nvPr/>
        </p:nvCxnSpPr>
        <p:spPr>
          <a:xfrm>
            <a:off x="4297680" y="1866900"/>
            <a:ext cx="579120" cy="0"/>
          </a:xfrm>
          <a:prstGeom prst="line">
            <a:avLst/>
          </a:prstGeom>
          <a:ln w="12700">
            <a:solidFill>
              <a:schemeClr val="accent2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A5370C16-3C62-9F27-5E09-BC76D82568AA}"/>
              </a:ext>
            </a:extLst>
          </p:cNvPr>
          <p:cNvCxnSpPr>
            <a:cxnSpLocks/>
          </p:cNvCxnSpPr>
          <p:nvPr/>
        </p:nvCxnSpPr>
        <p:spPr>
          <a:xfrm>
            <a:off x="6385560" y="1882140"/>
            <a:ext cx="579120" cy="0"/>
          </a:xfrm>
          <a:prstGeom prst="line">
            <a:avLst/>
          </a:prstGeom>
          <a:ln w="12700">
            <a:solidFill>
              <a:schemeClr val="accent2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3D0829AC-C270-66D7-3AB8-3392B9A9171F}"/>
              </a:ext>
            </a:extLst>
          </p:cNvPr>
          <p:cNvCxnSpPr>
            <a:cxnSpLocks/>
          </p:cNvCxnSpPr>
          <p:nvPr/>
        </p:nvCxnSpPr>
        <p:spPr>
          <a:xfrm rot="10800000">
            <a:off x="2209800" y="1524000"/>
            <a:ext cx="579120" cy="0"/>
          </a:xfrm>
          <a:prstGeom prst="line">
            <a:avLst/>
          </a:prstGeom>
          <a:ln w="12700">
            <a:solidFill>
              <a:schemeClr val="accent2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8DC847E5-3389-79E6-2862-57EB963AAB3D}"/>
              </a:ext>
            </a:extLst>
          </p:cNvPr>
          <p:cNvCxnSpPr>
            <a:cxnSpLocks/>
          </p:cNvCxnSpPr>
          <p:nvPr/>
        </p:nvCxnSpPr>
        <p:spPr>
          <a:xfrm rot="10800000">
            <a:off x="4297680" y="1524000"/>
            <a:ext cx="579120" cy="0"/>
          </a:xfrm>
          <a:prstGeom prst="line">
            <a:avLst/>
          </a:prstGeom>
          <a:ln w="12700">
            <a:solidFill>
              <a:schemeClr val="accent2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34B31A60-C45F-6DE4-5857-5613235E75E8}"/>
              </a:ext>
            </a:extLst>
          </p:cNvPr>
          <p:cNvCxnSpPr>
            <a:cxnSpLocks/>
          </p:cNvCxnSpPr>
          <p:nvPr/>
        </p:nvCxnSpPr>
        <p:spPr>
          <a:xfrm rot="10800000">
            <a:off x="6385560" y="1524000"/>
            <a:ext cx="579120" cy="0"/>
          </a:xfrm>
          <a:prstGeom prst="line">
            <a:avLst/>
          </a:prstGeom>
          <a:ln w="12700">
            <a:solidFill>
              <a:schemeClr val="accent2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490F29D8-FF62-8FE9-DDD8-D57D733CC897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5631180" y="2095272"/>
            <a:ext cx="0" cy="1242289"/>
          </a:xfrm>
          <a:prstGeom prst="line">
            <a:avLst/>
          </a:prstGeom>
          <a:ln w="12700">
            <a:solidFill>
              <a:schemeClr val="accent2"/>
            </a:solidFill>
            <a:prstDash val="dash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4FF1FD93-19DD-DDC0-7457-2B987EA41F1E}"/>
              </a:ext>
            </a:extLst>
          </p:cNvPr>
          <p:cNvCxnSpPr>
            <a:cxnSpLocks/>
          </p:cNvCxnSpPr>
          <p:nvPr/>
        </p:nvCxnSpPr>
        <p:spPr>
          <a:xfrm flipV="1">
            <a:off x="7719060" y="2102901"/>
            <a:ext cx="0" cy="1242289"/>
          </a:xfrm>
          <a:prstGeom prst="line">
            <a:avLst/>
          </a:prstGeom>
          <a:ln w="12700">
            <a:solidFill>
              <a:schemeClr val="accent2"/>
            </a:solidFill>
            <a:prstDash val="dash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84377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46"/>
          <p:cNvSpPr/>
          <p:nvPr/>
        </p:nvSpPr>
        <p:spPr>
          <a:xfrm>
            <a:off x="7740175" y="-790750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46"/>
          <p:cNvSpPr/>
          <p:nvPr/>
        </p:nvSpPr>
        <p:spPr>
          <a:xfrm>
            <a:off x="8736600" y="220750"/>
            <a:ext cx="637500" cy="6375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239;p33">
            <a:extLst>
              <a:ext uri="{FF2B5EF4-FFF2-40B4-BE49-F238E27FC236}">
                <a16:creationId xmlns:a16="http://schemas.microsoft.com/office/drawing/2014/main" id="{9B0F7ECC-25E5-39FB-CDD4-7B1B241C2145}"/>
              </a:ext>
            </a:extLst>
          </p:cNvPr>
          <p:cNvSpPr/>
          <p:nvPr/>
        </p:nvSpPr>
        <p:spPr>
          <a:xfrm>
            <a:off x="8396682" y="4443016"/>
            <a:ext cx="900000" cy="9000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458;p41">
            <a:extLst>
              <a:ext uri="{FF2B5EF4-FFF2-40B4-BE49-F238E27FC236}">
                <a16:creationId xmlns:a16="http://schemas.microsoft.com/office/drawing/2014/main" id="{96A4087B-EECC-E028-4B31-F7AFF00FCFF3}"/>
              </a:ext>
            </a:extLst>
          </p:cNvPr>
          <p:cNvSpPr txBox="1">
            <a:spLocks/>
          </p:cNvSpPr>
          <p:nvPr/>
        </p:nvSpPr>
        <p:spPr>
          <a:xfrm>
            <a:off x="8318367" y="4473496"/>
            <a:ext cx="985935" cy="754000"/>
          </a:xfrm>
          <a:prstGeom prst="rect">
            <a:avLst/>
          </a:prstGeom>
          <a:effectLst>
            <a:outerShdw blurRad="50800" dist="50800" dir="2700000" algn="ctr" rotWithShape="0">
              <a:sysClr val="windowText" lastClr="000000"/>
            </a:outerShdw>
          </a:effectLst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defPPr>
              <a:defRPr lang="en-UA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" sz="2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+mn-cs"/>
              </a:rPr>
              <a:t>/13</a:t>
            </a:r>
            <a:endParaRPr kumimoji="0" lang="en" sz="2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 SemiBold" panose="00000700000000000000" pitchFamily="2" charset="-52"/>
              <a:ea typeface="+mn-ea"/>
              <a:cs typeface="+mn-cs"/>
            </a:endParaRPr>
          </a:p>
        </p:txBody>
      </p:sp>
      <p:sp>
        <p:nvSpPr>
          <p:cNvPr id="6" name="Google Shape;456;p41">
            <a:extLst>
              <a:ext uri="{FF2B5EF4-FFF2-40B4-BE49-F238E27FC236}">
                <a16:creationId xmlns:a16="http://schemas.microsoft.com/office/drawing/2014/main" id="{AD0AFEF2-1229-D6D0-14A4-8882208104AE}"/>
              </a:ext>
            </a:extLst>
          </p:cNvPr>
          <p:cNvSpPr txBox="1">
            <a:spLocks/>
          </p:cNvSpPr>
          <p:nvPr/>
        </p:nvSpPr>
        <p:spPr>
          <a:xfrm>
            <a:off x="1485900" y="170900"/>
            <a:ext cx="6172200" cy="717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37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pPr algn="ctr"/>
            <a:r>
              <a:rPr lang="ru-RU" sz="3000" b="1" dirty="0">
                <a:latin typeface="Montserrat Medium" panose="00000600000000000000" pitchFamily="2" charset="-52"/>
              </a:rPr>
              <a:t>Интерфейс и функции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419292F-A26D-7550-56CF-F159506844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487" y="839681"/>
            <a:ext cx="7522913" cy="4053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024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46"/>
          <p:cNvSpPr/>
          <p:nvPr/>
        </p:nvSpPr>
        <p:spPr>
          <a:xfrm>
            <a:off x="7740175" y="-790750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46"/>
          <p:cNvSpPr/>
          <p:nvPr/>
        </p:nvSpPr>
        <p:spPr>
          <a:xfrm>
            <a:off x="8736600" y="220750"/>
            <a:ext cx="637500" cy="6375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239;p33">
            <a:extLst>
              <a:ext uri="{FF2B5EF4-FFF2-40B4-BE49-F238E27FC236}">
                <a16:creationId xmlns:a16="http://schemas.microsoft.com/office/drawing/2014/main" id="{9B0F7ECC-25E5-39FB-CDD4-7B1B241C2145}"/>
              </a:ext>
            </a:extLst>
          </p:cNvPr>
          <p:cNvSpPr/>
          <p:nvPr/>
        </p:nvSpPr>
        <p:spPr>
          <a:xfrm>
            <a:off x="8396682" y="4443016"/>
            <a:ext cx="900000" cy="9000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458;p41">
            <a:extLst>
              <a:ext uri="{FF2B5EF4-FFF2-40B4-BE49-F238E27FC236}">
                <a16:creationId xmlns:a16="http://schemas.microsoft.com/office/drawing/2014/main" id="{96A4087B-EECC-E028-4B31-F7AFF00FCFF3}"/>
              </a:ext>
            </a:extLst>
          </p:cNvPr>
          <p:cNvSpPr txBox="1">
            <a:spLocks/>
          </p:cNvSpPr>
          <p:nvPr/>
        </p:nvSpPr>
        <p:spPr>
          <a:xfrm>
            <a:off x="8318367" y="4473496"/>
            <a:ext cx="985935" cy="754000"/>
          </a:xfrm>
          <a:prstGeom prst="rect">
            <a:avLst/>
          </a:prstGeom>
          <a:effectLst>
            <a:outerShdw blurRad="50800" dist="50800" dir="2700000" algn="ctr" rotWithShape="0">
              <a:sysClr val="windowText" lastClr="000000"/>
            </a:outerShdw>
          </a:effectLst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defPPr>
              <a:defRPr lang="en-UA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" sz="2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+mn-cs"/>
              </a:rPr>
              <a:t>/13</a:t>
            </a:r>
            <a:endParaRPr kumimoji="0" lang="en" sz="2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 SemiBold" panose="00000700000000000000" pitchFamily="2" charset="-52"/>
              <a:ea typeface="+mn-ea"/>
              <a:cs typeface="+mn-cs"/>
            </a:endParaRPr>
          </a:p>
        </p:txBody>
      </p:sp>
      <p:sp>
        <p:nvSpPr>
          <p:cNvPr id="6" name="Google Shape;456;p41">
            <a:extLst>
              <a:ext uri="{FF2B5EF4-FFF2-40B4-BE49-F238E27FC236}">
                <a16:creationId xmlns:a16="http://schemas.microsoft.com/office/drawing/2014/main" id="{AD0AFEF2-1229-D6D0-14A4-8882208104AE}"/>
              </a:ext>
            </a:extLst>
          </p:cNvPr>
          <p:cNvSpPr txBox="1">
            <a:spLocks/>
          </p:cNvSpPr>
          <p:nvPr/>
        </p:nvSpPr>
        <p:spPr>
          <a:xfrm>
            <a:off x="1485900" y="170900"/>
            <a:ext cx="6172200" cy="717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37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pPr algn="ctr"/>
            <a:r>
              <a:rPr lang="ru-RU" sz="3000" b="1" dirty="0">
                <a:latin typeface="Montserrat Medium" panose="00000600000000000000" pitchFamily="2" charset="-52"/>
              </a:rPr>
              <a:t>Интерфейс и функции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6BC67E6-7614-516C-4894-703FDC2933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333" y="854285"/>
            <a:ext cx="7558192" cy="122714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A7F22E3-A11E-FD32-ECAC-D04A644548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2829" y="2152841"/>
            <a:ext cx="6378342" cy="2657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730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46"/>
          <p:cNvSpPr/>
          <p:nvPr/>
        </p:nvSpPr>
        <p:spPr>
          <a:xfrm>
            <a:off x="7740175" y="-790750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46"/>
          <p:cNvSpPr/>
          <p:nvPr/>
        </p:nvSpPr>
        <p:spPr>
          <a:xfrm>
            <a:off x="8736600" y="220750"/>
            <a:ext cx="637500" cy="6375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239;p33">
            <a:extLst>
              <a:ext uri="{FF2B5EF4-FFF2-40B4-BE49-F238E27FC236}">
                <a16:creationId xmlns:a16="http://schemas.microsoft.com/office/drawing/2014/main" id="{9B0F7ECC-25E5-39FB-CDD4-7B1B241C2145}"/>
              </a:ext>
            </a:extLst>
          </p:cNvPr>
          <p:cNvSpPr/>
          <p:nvPr/>
        </p:nvSpPr>
        <p:spPr>
          <a:xfrm>
            <a:off x="8396682" y="4443016"/>
            <a:ext cx="900000" cy="9000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458;p41">
            <a:extLst>
              <a:ext uri="{FF2B5EF4-FFF2-40B4-BE49-F238E27FC236}">
                <a16:creationId xmlns:a16="http://schemas.microsoft.com/office/drawing/2014/main" id="{96A4087B-EECC-E028-4B31-F7AFF00FCFF3}"/>
              </a:ext>
            </a:extLst>
          </p:cNvPr>
          <p:cNvSpPr txBox="1">
            <a:spLocks/>
          </p:cNvSpPr>
          <p:nvPr/>
        </p:nvSpPr>
        <p:spPr>
          <a:xfrm>
            <a:off x="8318367" y="4473496"/>
            <a:ext cx="985935" cy="754000"/>
          </a:xfrm>
          <a:prstGeom prst="rect">
            <a:avLst/>
          </a:prstGeom>
          <a:effectLst>
            <a:outerShdw blurRad="50800" dist="50800" dir="2700000" algn="ctr" rotWithShape="0">
              <a:sysClr val="windowText" lastClr="000000"/>
            </a:outerShdw>
          </a:effectLst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defPPr>
              <a:defRPr lang="en-UA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" sz="2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+mn-cs"/>
              </a:rPr>
              <a:t>/13</a:t>
            </a:r>
            <a:endParaRPr kumimoji="0" lang="en" sz="2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 SemiBold" panose="00000700000000000000" pitchFamily="2" charset="-52"/>
              <a:ea typeface="+mn-ea"/>
              <a:cs typeface="+mn-cs"/>
            </a:endParaRPr>
          </a:p>
        </p:txBody>
      </p:sp>
      <p:sp>
        <p:nvSpPr>
          <p:cNvPr id="6" name="Google Shape;456;p41">
            <a:extLst>
              <a:ext uri="{FF2B5EF4-FFF2-40B4-BE49-F238E27FC236}">
                <a16:creationId xmlns:a16="http://schemas.microsoft.com/office/drawing/2014/main" id="{AD0AFEF2-1229-D6D0-14A4-8882208104AE}"/>
              </a:ext>
            </a:extLst>
          </p:cNvPr>
          <p:cNvSpPr txBox="1">
            <a:spLocks/>
          </p:cNvSpPr>
          <p:nvPr/>
        </p:nvSpPr>
        <p:spPr>
          <a:xfrm>
            <a:off x="1485900" y="170900"/>
            <a:ext cx="6172200" cy="717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37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pPr algn="ctr"/>
            <a:r>
              <a:rPr lang="ru-RU" sz="3000" b="1" dirty="0">
                <a:latin typeface="Montserrat Medium" panose="00000600000000000000" pitchFamily="2" charset="-52"/>
              </a:rPr>
              <a:t>Интерфейс и функции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82D63CA-D150-83FF-E032-F099A45919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748" y="771372"/>
            <a:ext cx="6018503" cy="4201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5207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46"/>
          <p:cNvSpPr/>
          <p:nvPr/>
        </p:nvSpPr>
        <p:spPr>
          <a:xfrm>
            <a:off x="7740175" y="-790750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46"/>
          <p:cNvSpPr/>
          <p:nvPr/>
        </p:nvSpPr>
        <p:spPr>
          <a:xfrm>
            <a:off x="8736600" y="220750"/>
            <a:ext cx="637500" cy="6375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239;p33">
            <a:extLst>
              <a:ext uri="{FF2B5EF4-FFF2-40B4-BE49-F238E27FC236}">
                <a16:creationId xmlns:a16="http://schemas.microsoft.com/office/drawing/2014/main" id="{9B0F7ECC-25E5-39FB-CDD4-7B1B241C2145}"/>
              </a:ext>
            </a:extLst>
          </p:cNvPr>
          <p:cNvSpPr/>
          <p:nvPr/>
        </p:nvSpPr>
        <p:spPr>
          <a:xfrm>
            <a:off x="8396682" y="4443016"/>
            <a:ext cx="900000" cy="9000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458;p41">
            <a:extLst>
              <a:ext uri="{FF2B5EF4-FFF2-40B4-BE49-F238E27FC236}">
                <a16:creationId xmlns:a16="http://schemas.microsoft.com/office/drawing/2014/main" id="{96A4087B-EECC-E028-4B31-F7AFF00FCFF3}"/>
              </a:ext>
            </a:extLst>
          </p:cNvPr>
          <p:cNvSpPr txBox="1">
            <a:spLocks/>
          </p:cNvSpPr>
          <p:nvPr/>
        </p:nvSpPr>
        <p:spPr>
          <a:xfrm>
            <a:off x="8318367" y="4473496"/>
            <a:ext cx="985935" cy="754000"/>
          </a:xfrm>
          <a:prstGeom prst="rect">
            <a:avLst/>
          </a:prstGeom>
          <a:effectLst>
            <a:outerShdw blurRad="50800" dist="50800" dir="2700000" algn="ctr" rotWithShape="0">
              <a:sysClr val="windowText" lastClr="000000"/>
            </a:outerShdw>
          </a:effectLst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defPPr>
              <a:defRPr lang="en-UA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" sz="2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+mn-cs"/>
              </a:rPr>
              <a:t>/13</a:t>
            </a:r>
            <a:endParaRPr kumimoji="0" lang="en" sz="2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 SemiBold" panose="00000700000000000000" pitchFamily="2" charset="-52"/>
              <a:ea typeface="+mn-ea"/>
              <a:cs typeface="+mn-cs"/>
            </a:endParaRPr>
          </a:p>
        </p:txBody>
      </p:sp>
      <p:sp>
        <p:nvSpPr>
          <p:cNvPr id="6" name="Google Shape;456;p41">
            <a:extLst>
              <a:ext uri="{FF2B5EF4-FFF2-40B4-BE49-F238E27FC236}">
                <a16:creationId xmlns:a16="http://schemas.microsoft.com/office/drawing/2014/main" id="{AD0AFEF2-1229-D6D0-14A4-8882208104AE}"/>
              </a:ext>
            </a:extLst>
          </p:cNvPr>
          <p:cNvSpPr txBox="1">
            <a:spLocks/>
          </p:cNvSpPr>
          <p:nvPr/>
        </p:nvSpPr>
        <p:spPr>
          <a:xfrm>
            <a:off x="1485900" y="170900"/>
            <a:ext cx="6172200" cy="717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37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pPr algn="ctr"/>
            <a:r>
              <a:rPr lang="ru-RU" sz="3000" b="1" dirty="0">
                <a:latin typeface="Montserrat Medium" panose="00000600000000000000" pitchFamily="2" charset="-52"/>
              </a:rPr>
              <a:t>Интерфейс и функции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72809EB-AE8C-DAEB-3EA8-60E235361F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278" y="765518"/>
            <a:ext cx="6874072" cy="4282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1807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46"/>
          <p:cNvSpPr/>
          <p:nvPr/>
        </p:nvSpPr>
        <p:spPr>
          <a:xfrm>
            <a:off x="7740175" y="-790750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46"/>
          <p:cNvSpPr/>
          <p:nvPr/>
        </p:nvSpPr>
        <p:spPr>
          <a:xfrm>
            <a:off x="8736600" y="220750"/>
            <a:ext cx="637500" cy="6375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239;p33">
            <a:extLst>
              <a:ext uri="{FF2B5EF4-FFF2-40B4-BE49-F238E27FC236}">
                <a16:creationId xmlns:a16="http://schemas.microsoft.com/office/drawing/2014/main" id="{9B0F7ECC-25E5-39FB-CDD4-7B1B241C2145}"/>
              </a:ext>
            </a:extLst>
          </p:cNvPr>
          <p:cNvSpPr/>
          <p:nvPr/>
        </p:nvSpPr>
        <p:spPr>
          <a:xfrm>
            <a:off x="8396682" y="4443016"/>
            <a:ext cx="900000" cy="9000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458;p41">
            <a:extLst>
              <a:ext uri="{FF2B5EF4-FFF2-40B4-BE49-F238E27FC236}">
                <a16:creationId xmlns:a16="http://schemas.microsoft.com/office/drawing/2014/main" id="{96A4087B-EECC-E028-4B31-F7AFF00FCFF3}"/>
              </a:ext>
            </a:extLst>
          </p:cNvPr>
          <p:cNvSpPr txBox="1">
            <a:spLocks/>
          </p:cNvSpPr>
          <p:nvPr/>
        </p:nvSpPr>
        <p:spPr>
          <a:xfrm>
            <a:off x="8318367" y="4473496"/>
            <a:ext cx="985935" cy="754000"/>
          </a:xfrm>
          <a:prstGeom prst="rect">
            <a:avLst/>
          </a:prstGeom>
          <a:effectLst>
            <a:outerShdw blurRad="50800" dist="50800" dir="2700000" algn="ctr" rotWithShape="0">
              <a:sysClr val="windowText" lastClr="000000"/>
            </a:outerShdw>
          </a:effectLst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defPPr>
              <a:defRPr lang="en-UA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" sz="2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+mn-cs"/>
              </a:rPr>
              <a:t>/13</a:t>
            </a:r>
            <a:endParaRPr kumimoji="0" lang="en" sz="2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 SemiBold" panose="00000700000000000000" pitchFamily="2" charset="-52"/>
              <a:ea typeface="+mn-ea"/>
              <a:cs typeface="+mn-cs"/>
            </a:endParaRPr>
          </a:p>
        </p:txBody>
      </p:sp>
      <p:sp>
        <p:nvSpPr>
          <p:cNvPr id="6" name="Google Shape;456;p41">
            <a:extLst>
              <a:ext uri="{FF2B5EF4-FFF2-40B4-BE49-F238E27FC236}">
                <a16:creationId xmlns:a16="http://schemas.microsoft.com/office/drawing/2014/main" id="{AD0AFEF2-1229-D6D0-14A4-8882208104AE}"/>
              </a:ext>
            </a:extLst>
          </p:cNvPr>
          <p:cNvSpPr txBox="1">
            <a:spLocks/>
          </p:cNvSpPr>
          <p:nvPr/>
        </p:nvSpPr>
        <p:spPr>
          <a:xfrm>
            <a:off x="1485900" y="170900"/>
            <a:ext cx="6172200" cy="717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37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pPr algn="ctr"/>
            <a:r>
              <a:rPr lang="ru-RU" sz="3000" b="1" dirty="0">
                <a:latin typeface="Montserrat Medium" panose="00000600000000000000" pitchFamily="2" charset="-52"/>
              </a:rPr>
              <a:t>Интерфейс и функции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611759C-9FCD-AF35-F9AE-C913EFA6B7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858250"/>
            <a:ext cx="7571125" cy="4024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365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46"/>
          <p:cNvSpPr/>
          <p:nvPr/>
        </p:nvSpPr>
        <p:spPr>
          <a:xfrm>
            <a:off x="7740175" y="-790750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46"/>
          <p:cNvSpPr/>
          <p:nvPr/>
        </p:nvSpPr>
        <p:spPr>
          <a:xfrm>
            <a:off x="8736600" y="220750"/>
            <a:ext cx="637500" cy="6375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239;p33">
            <a:extLst>
              <a:ext uri="{FF2B5EF4-FFF2-40B4-BE49-F238E27FC236}">
                <a16:creationId xmlns:a16="http://schemas.microsoft.com/office/drawing/2014/main" id="{9B0F7ECC-25E5-39FB-CDD4-7B1B241C2145}"/>
              </a:ext>
            </a:extLst>
          </p:cNvPr>
          <p:cNvSpPr/>
          <p:nvPr/>
        </p:nvSpPr>
        <p:spPr>
          <a:xfrm>
            <a:off x="8396682" y="4443016"/>
            <a:ext cx="900000" cy="9000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458;p41">
            <a:extLst>
              <a:ext uri="{FF2B5EF4-FFF2-40B4-BE49-F238E27FC236}">
                <a16:creationId xmlns:a16="http://schemas.microsoft.com/office/drawing/2014/main" id="{96A4087B-EECC-E028-4B31-F7AFF00FCFF3}"/>
              </a:ext>
            </a:extLst>
          </p:cNvPr>
          <p:cNvSpPr txBox="1">
            <a:spLocks/>
          </p:cNvSpPr>
          <p:nvPr/>
        </p:nvSpPr>
        <p:spPr>
          <a:xfrm>
            <a:off x="8318367" y="4473496"/>
            <a:ext cx="985935" cy="754000"/>
          </a:xfrm>
          <a:prstGeom prst="rect">
            <a:avLst/>
          </a:prstGeom>
          <a:effectLst>
            <a:outerShdw blurRad="50800" dist="50800" dir="2700000" algn="ctr" rotWithShape="0">
              <a:sysClr val="windowText" lastClr="000000"/>
            </a:outerShdw>
          </a:effectLst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defPPr>
              <a:defRPr lang="en-UA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" sz="2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+mn-cs"/>
              </a:rPr>
              <a:t>/13</a:t>
            </a:r>
            <a:endParaRPr kumimoji="0" lang="en" sz="2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 SemiBold" panose="00000700000000000000" pitchFamily="2" charset="-52"/>
              <a:ea typeface="+mn-ea"/>
              <a:cs typeface="+mn-cs"/>
            </a:endParaRPr>
          </a:p>
        </p:txBody>
      </p:sp>
      <p:sp>
        <p:nvSpPr>
          <p:cNvPr id="6" name="Google Shape;456;p41">
            <a:extLst>
              <a:ext uri="{FF2B5EF4-FFF2-40B4-BE49-F238E27FC236}">
                <a16:creationId xmlns:a16="http://schemas.microsoft.com/office/drawing/2014/main" id="{AD0AFEF2-1229-D6D0-14A4-8882208104AE}"/>
              </a:ext>
            </a:extLst>
          </p:cNvPr>
          <p:cNvSpPr txBox="1">
            <a:spLocks/>
          </p:cNvSpPr>
          <p:nvPr/>
        </p:nvSpPr>
        <p:spPr>
          <a:xfrm>
            <a:off x="1485900" y="170900"/>
            <a:ext cx="6172200" cy="717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37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pPr algn="ctr"/>
            <a:r>
              <a:rPr lang="ru-RU" sz="3000" b="1" dirty="0">
                <a:latin typeface="Montserrat Medium" panose="00000600000000000000" pitchFamily="2" charset="-52"/>
              </a:rPr>
              <a:t>Интерфейс и функции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BBF1147-1B38-61CD-C907-75406A497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5444" y="768968"/>
            <a:ext cx="5508702" cy="212811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6B07778-73BD-0EE4-4BAB-9D3D4A5DBB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5444" y="2913367"/>
            <a:ext cx="5508702" cy="2120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1241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46"/>
          <p:cNvSpPr/>
          <p:nvPr/>
        </p:nvSpPr>
        <p:spPr>
          <a:xfrm>
            <a:off x="7740175" y="-790750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46"/>
          <p:cNvSpPr/>
          <p:nvPr/>
        </p:nvSpPr>
        <p:spPr>
          <a:xfrm>
            <a:off x="8736600" y="220750"/>
            <a:ext cx="637500" cy="6375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239;p33">
            <a:extLst>
              <a:ext uri="{FF2B5EF4-FFF2-40B4-BE49-F238E27FC236}">
                <a16:creationId xmlns:a16="http://schemas.microsoft.com/office/drawing/2014/main" id="{9B0F7ECC-25E5-39FB-CDD4-7B1B241C2145}"/>
              </a:ext>
            </a:extLst>
          </p:cNvPr>
          <p:cNvSpPr/>
          <p:nvPr/>
        </p:nvSpPr>
        <p:spPr>
          <a:xfrm>
            <a:off x="8396682" y="4443016"/>
            <a:ext cx="900000" cy="9000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458;p41">
            <a:extLst>
              <a:ext uri="{FF2B5EF4-FFF2-40B4-BE49-F238E27FC236}">
                <a16:creationId xmlns:a16="http://schemas.microsoft.com/office/drawing/2014/main" id="{96A4087B-EECC-E028-4B31-F7AFF00FCFF3}"/>
              </a:ext>
            </a:extLst>
          </p:cNvPr>
          <p:cNvSpPr txBox="1">
            <a:spLocks/>
          </p:cNvSpPr>
          <p:nvPr/>
        </p:nvSpPr>
        <p:spPr>
          <a:xfrm>
            <a:off x="8318367" y="4473496"/>
            <a:ext cx="985935" cy="754000"/>
          </a:xfrm>
          <a:prstGeom prst="rect">
            <a:avLst/>
          </a:prstGeom>
          <a:effectLst>
            <a:outerShdw blurRad="50800" dist="50800" dir="2700000" algn="ctr" rotWithShape="0">
              <a:sysClr val="windowText" lastClr="000000"/>
            </a:outerShdw>
          </a:effectLst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defPPr>
              <a:defRPr lang="en-UA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" sz="2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+mn-cs"/>
              </a:rPr>
              <a:t>/13</a:t>
            </a:r>
            <a:endParaRPr kumimoji="0" lang="en" sz="2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 SemiBold" panose="00000700000000000000" pitchFamily="2" charset="-52"/>
              <a:ea typeface="+mn-ea"/>
              <a:cs typeface="+mn-cs"/>
            </a:endParaRPr>
          </a:p>
        </p:txBody>
      </p:sp>
      <p:sp>
        <p:nvSpPr>
          <p:cNvPr id="6" name="Google Shape;456;p41">
            <a:extLst>
              <a:ext uri="{FF2B5EF4-FFF2-40B4-BE49-F238E27FC236}">
                <a16:creationId xmlns:a16="http://schemas.microsoft.com/office/drawing/2014/main" id="{AD0AFEF2-1229-D6D0-14A4-8882208104AE}"/>
              </a:ext>
            </a:extLst>
          </p:cNvPr>
          <p:cNvSpPr txBox="1">
            <a:spLocks/>
          </p:cNvSpPr>
          <p:nvPr/>
        </p:nvSpPr>
        <p:spPr>
          <a:xfrm>
            <a:off x="1485900" y="170900"/>
            <a:ext cx="6172200" cy="717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37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pPr algn="ctr"/>
            <a:r>
              <a:rPr lang="ru-RU" sz="3000" b="1" dirty="0">
                <a:latin typeface="Montserrat Medium" panose="00000600000000000000" pitchFamily="2" charset="-52"/>
              </a:rPr>
              <a:t>Заключение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1060F1-4580-C986-0F05-13C8CFD85B08}"/>
              </a:ext>
            </a:extLst>
          </p:cNvPr>
          <p:cNvSpPr txBox="1"/>
          <p:nvPr/>
        </p:nvSpPr>
        <p:spPr>
          <a:xfrm>
            <a:off x="735021" y="1175690"/>
            <a:ext cx="7673958" cy="252825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25000"/>
              </a:lnSpc>
            </a:pPr>
            <a:r>
              <a:rPr lang="ru-RU" sz="1600" dirty="0">
                <a:latin typeface="Montserrat Medium" panose="00000600000000000000" pitchFamily="2" charset="-52"/>
                <a:sym typeface="Symbol" panose="05050102010706020507" pitchFamily="18" charset="2"/>
              </a:rPr>
              <a:t>В моей системе разработано:</a:t>
            </a:r>
          </a:p>
          <a:p>
            <a:pPr>
              <a:lnSpc>
                <a:spcPct val="125000"/>
              </a:lnSpc>
            </a:pPr>
            <a:r>
              <a:rPr lang="ru-RU" sz="1600" dirty="0">
                <a:latin typeface="Montserrat Medium" panose="00000600000000000000" pitchFamily="2" charset="-52"/>
                <a:sym typeface="Symbol" panose="05050102010706020507" pitchFamily="18" charset="2"/>
              </a:rPr>
              <a:t>1. </a:t>
            </a:r>
            <a:r>
              <a:rPr lang="ru-RU" sz="1600" dirty="0">
                <a:latin typeface="Montserrat Light" panose="00000400000000000000" pitchFamily="2" charset="-52"/>
                <a:sym typeface="Symbol" panose="05050102010706020507" pitchFamily="18" charset="2"/>
              </a:rPr>
              <a:t>3 метода </a:t>
            </a:r>
            <a:r>
              <a:rPr lang="en-US" sz="1600" dirty="0">
                <a:latin typeface="Montserrat Light" panose="00000400000000000000" pitchFamily="2" charset="-52"/>
                <a:sym typeface="Symbol" panose="05050102010706020507" pitchFamily="18" charset="2"/>
              </a:rPr>
              <a:t>MCDM</a:t>
            </a:r>
            <a:r>
              <a:rPr lang="ru-RU" sz="1600" dirty="0">
                <a:latin typeface="Montserrat Light" panose="00000400000000000000" pitchFamily="2" charset="-52"/>
                <a:sym typeface="Symbol" panose="05050102010706020507" pitchFamily="18" charset="2"/>
              </a:rPr>
              <a:t> </a:t>
            </a:r>
            <a:r>
              <a:rPr lang="en-US" sz="1600" dirty="0">
                <a:latin typeface="Montserrat Light" panose="00000400000000000000" pitchFamily="2" charset="-52"/>
                <a:sym typeface="Symbol" panose="05050102010706020507" pitchFamily="18" charset="2"/>
              </a:rPr>
              <a:t></a:t>
            </a:r>
            <a:r>
              <a:rPr lang="ru-RU" sz="1600" dirty="0">
                <a:latin typeface="Montserrat Light" panose="00000400000000000000" pitchFamily="2" charset="-52"/>
                <a:sym typeface="Symbol" panose="05050102010706020507" pitchFamily="18" charset="2"/>
              </a:rPr>
              <a:t> </a:t>
            </a:r>
            <a:r>
              <a:rPr lang="en-US" sz="1600" dirty="0">
                <a:latin typeface="Montserrat Light" panose="00000400000000000000" pitchFamily="2" charset="-52"/>
                <a:sym typeface="Symbol" panose="05050102010706020507" pitchFamily="18" charset="2"/>
              </a:rPr>
              <a:t>WSM, TOPSIS </a:t>
            </a:r>
            <a:r>
              <a:rPr lang="ru-RU" sz="1600" dirty="0">
                <a:latin typeface="Montserrat Light" panose="00000400000000000000" pitchFamily="2" charset="-52"/>
                <a:sym typeface="Symbol" panose="05050102010706020507" pitchFamily="18" charset="2"/>
              </a:rPr>
              <a:t>и </a:t>
            </a:r>
            <a:r>
              <a:rPr lang="en-US" sz="1600" dirty="0">
                <a:latin typeface="Montserrat Light" panose="00000400000000000000" pitchFamily="2" charset="-52"/>
                <a:sym typeface="Symbol" panose="05050102010706020507" pitchFamily="18" charset="2"/>
              </a:rPr>
              <a:t>CBR</a:t>
            </a:r>
            <a:r>
              <a:rPr lang="ru-RU" sz="1600" dirty="0">
                <a:latin typeface="Montserrat Light" panose="00000400000000000000" pitchFamily="2" charset="-52"/>
                <a:sym typeface="Symbol" panose="05050102010706020507" pitchFamily="18" charset="2"/>
              </a:rPr>
              <a:t>.</a:t>
            </a:r>
            <a:endParaRPr lang="en-US" sz="1600" dirty="0">
              <a:latin typeface="Montserrat Light" panose="00000400000000000000" pitchFamily="2" charset="-52"/>
              <a:sym typeface="Symbol" panose="05050102010706020507" pitchFamily="18" charset="2"/>
            </a:endParaRPr>
          </a:p>
          <a:p>
            <a:pPr>
              <a:lnSpc>
                <a:spcPct val="125000"/>
              </a:lnSpc>
            </a:pPr>
            <a:r>
              <a:rPr lang="ru-RU" sz="1600" dirty="0">
                <a:latin typeface="Montserrat Medium" panose="00000600000000000000" pitchFamily="2" charset="-52"/>
                <a:sym typeface="Symbol" panose="05050102010706020507" pitchFamily="18" charset="2"/>
              </a:rPr>
              <a:t>2</a:t>
            </a:r>
            <a:r>
              <a:rPr lang="en-US" sz="1600" dirty="0">
                <a:latin typeface="Montserrat Medium" panose="00000600000000000000" pitchFamily="2" charset="-52"/>
                <a:sym typeface="Symbol" panose="05050102010706020507" pitchFamily="18" charset="2"/>
              </a:rPr>
              <a:t>. </a:t>
            </a:r>
            <a:r>
              <a:rPr lang="ru-RU" sz="1600" dirty="0">
                <a:latin typeface="Montserrat Light" panose="00000400000000000000" pitchFamily="2" charset="-52"/>
                <a:sym typeface="Symbol" panose="05050102010706020507" pitchFamily="18" charset="2"/>
              </a:rPr>
              <a:t>База данных городов из 400+ городов с 14 критериями.</a:t>
            </a:r>
          </a:p>
          <a:p>
            <a:pPr>
              <a:lnSpc>
                <a:spcPct val="125000"/>
              </a:lnSpc>
            </a:pPr>
            <a:r>
              <a:rPr lang="ru-RU" sz="1600" dirty="0">
                <a:latin typeface="Montserrat Medium" panose="00000600000000000000" pitchFamily="2" charset="-52"/>
                <a:sym typeface="Symbol" panose="05050102010706020507" pitchFamily="18" charset="2"/>
              </a:rPr>
              <a:t>3. </a:t>
            </a:r>
            <a:r>
              <a:rPr lang="ru-RU" sz="1600" dirty="0">
                <a:latin typeface="Montserrat Light" panose="00000400000000000000" pitchFamily="2" charset="-52"/>
                <a:sym typeface="Symbol" panose="05050102010706020507" pitchFamily="18" charset="2"/>
              </a:rPr>
              <a:t>Клиент-серверное приложение в виде рекомендательной системы.</a:t>
            </a:r>
          </a:p>
          <a:p>
            <a:pPr>
              <a:lnSpc>
                <a:spcPct val="125000"/>
              </a:lnSpc>
            </a:pPr>
            <a:r>
              <a:rPr lang="ru-RU" sz="1600" dirty="0">
                <a:latin typeface="Montserrat Medium" panose="00000600000000000000" pitchFamily="2" charset="-52"/>
                <a:sym typeface="Symbol" panose="05050102010706020507" pitchFamily="18" charset="2"/>
              </a:rPr>
              <a:t>4. </a:t>
            </a:r>
            <a:r>
              <a:rPr lang="ru-RU" sz="1600" dirty="0">
                <a:latin typeface="Montserrat Light" panose="00000400000000000000" pitchFamily="2" charset="-52"/>
                <a:sym typeface="Symbol" panose="05050102010706020507" pitchFamily="18" charset="2"/>
              </a:rPr>
              <a:t>Фильтрация (6 типов).</a:t>
            </a:r>
          </a:p>
          <a:p>
            <a:pPr>
              <a:lnSpc>
                <a:spcPct val="125000"/>
              </a:lnSpc>
            </a:pPr>
            <a:r>
              <a:rPr lang="ru-RU" sz="1600" dirty="0">
                <a:latin typeface="Montserrat Medium" panose="00000600000000000000" pitchFamily="2" charset="-52"/>
                <a:sym typeface="Symbol" panose="05050102010706020507" pitchFamily="18" charset="2"/>
              </a:rPr>
              <a:t>5. </a:t>
            </a:r>
            <a:r>
              <a:rPr lang="ru-RU" sz="1600" dirty="0">
                <a:latin typeface="Montserrat Light" panose="00000400000000000000" pitchFamily="2" charset="-52"/>
                <a:sym typeface="Symbol" panose="05050102010706020507" pitchFamily="18" charset="2"/>
              </a:rPr>
              <a:t>Сравнение городов (сравнительная таблица + итоговый вердикт).</a:t>
            </a:r>
          </a:p>
          <a:p>
            <a:pPr>
              <a:lnSpc>
                <a:spcPct val="125000"/>
              </a:lnSpc>
            </a:pPr>
            <a:r>
              <a:rPr lang="ru-RU" sz="1600" dirty="0">
                <a:latin typeface="Montserrat Medium" panose="00000600000000000000" pitchFamily="2" charset="-52"/>
                <a:sym typeface="Symbol" panose="05050102010706020507" pitchFamily="18" charset="2"/>
              </a:rPr>
              <a:t>6. </a:t>
            </a:r>
            <a:r>
              <a:rPr lang="ru-RU" sz="1600" dirty="0">
                <a:latin typeface="Montserrat Light" panose="00000400000000000000" pitchFamily="2" charset="-52"/>
                <a:sym typeface="Symbol" panose="05050102010706020507" pitchFamily="18" charset="2"/>
              </a:rPr>
              <a:t>История поисков с сохранением, загрузкой и переименованием.</a:t>
            </a:r>
          </a:p>
          <a:p>
            <a:pPr>
              <a:lnSpc>
                <a:spcPct val="125000"/>
              </a:lnSpc>
            </a:pPr>
            <a:r>
              <a:rPr lang="ru-RU" sz="1600" dirty="0">
                <a:latin typeface="Montserrat Medium" panose="00000600000000000000" pitchFamily="2" charset="-52"/>
                <a:sym typeface="Symbol" panose="05050102010706020507" pitchFamily="18" charset="2"/>
              </a:rPr>
              <a:t>7. </a:t>
            </a:r>
            <a:r>
              <a:rPr lang="ru-RU" sz="1600" dirty="0">
                <a:latin typeface="Montserrat Light" panose="00000400000000000000" pitchFamily="2" charset="-52"/>
                <a:sym typeface="Symbol" panose="05050102010706020507" pitchFamily="18" charset="2"/>
              </a:rPr>
              <a:t>Панель с Избранным.</a:t>
            </a:r>
          </a:p>
        </p:txBody>
      </p:sp>
    </p:spTree>
    <p:extLst>
      <p:ext uri="{BB962C8B-B14F-4D97-AF65-F5344CB8AC3E}">
        <p14:creationId xmlns:p14="http://schemas.microsoft.com/office/powerpoint/2010/main" val="2220735736"/>
      </p:ext>
    </p:extLst>
  </p:cSld>
  <p:clrMapOvr>
    <a:masterClrMapping/>
  </p:clrMapOvr>
</p:sld>
</file>

<file path=ppt/theme/theme1.xml><?xml version="1.0" encoding="utf-8"?>
<a:theme xmlns:a="http://schemas.openxmlformats.org/drawingml/2006/main" name="Computer Science &amp; Mathematics Major For College: Mathematics by Slidesgo">
  <a:themeElements>
    <a:clrScheme name="Simple Light">
      <a:dk1>
        <a:srgbClr val="FFFFFF"/>
      </a:dk1>
      <a:lt1>
        <a:srgbClr val="F3F3F3"/>
      </a:lt1>
      <a:dk2>
        <a:srgbClr val="666666"/>
      </a:dk2>
      <a:lt2>
        <a:srgbClr val="D149CE"/>
      </a:lt2>
      <a:accent1>
        <a:srgbClr val="43309F"/>
      </a:accent1>
      <a:accent2>
        <a:srgbClr val="000000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66666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409</Words>
  <Application>Microsoft Office PowerPoint</Application>
  <PresentationFormat>Экран (16:9)</PresentationFormat>
  <Paragraphs>96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1" baseType="lpstr">
      <vt:lpstr>Montserrat SemiBold</vt:lpstr>
      <vt:lpstr>Arial</vt:lpstr>
      <vt:lpstr>Montserrat Light</vt:lpstr>
      <vt:lpstr>Montserrat Medium</vt:lpstr>
      <vt:lpstr>Poppins</vt:lpstr>
      <vt:lpstr>Poppins SemiBold</vt:lpstr>
      <vt:lpstr>Bebas Neue</vt:lpstr>
      <vt:lpstr>Computer Science &amp; Mathematics Major For College: Mathematics by Slidesgo</vt:lpstr>
      <vt:lpstr>Презентация PowerPoint</vt:lpstr>
      <vt:lpstr>Презентация PowerPoint</vt:lpstr>
      <vt:lpstr>Рост географической мобильности населения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Вячеслав Большаков</cp:lastModifiedBy>
  <cp:revision>2</cp:revision>
  <dcterms:modified xsi:type="dcterms:W3CDTF">2026-05-27T20:52:30Z</dcterms:modified>
</cp:coreProperties>
</file>