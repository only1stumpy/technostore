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</a:t>
            </a:r>
            <a:r>
              <a:rPr b="0" lang="ru-RU" sz="4400" spc="-1" strike="noStrike">
                <a:latin typeface="Arial"/>
              </a:rPr>
              <a:t>перемещения </a:t>
            </a:r>
            <a:r>
              <a:rPr b="0" lang="ru-RU" sz="4400" spc="-1" strike="noStrike">
                <a:latin typeface="Arial"/>
              </a:rPr>
              <a:t>страницы </a:t>
            </a:r>
            <a:r>
              <a:rPr b="0" lang="ru-RU" sz="4400" spc="-1" strike="noStrike">
                <a:latin typeface="Arial"/>
              </a:rPr>
              <a:t>щёлкните </a:t>
            </a:r>
            <a:r>
              <a:rPr b="0" lang="ru-RU" sz="4400" spc="-1" strike="noStrike">
                <a:latin typeface="Arial"/>
              </a:rPr>
              <a:t>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</a:t>
            </a:r>
            <a:r>
              <a:rPr b="0" lang="ru-RU" sz="2000" spc="-1" strike="noStrike">
                <a:latin typeface="Arial"/>
              </a:rPr>
              <a:t>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B4FAC1D-1353-4095-9795-3A8E1ABBEEBA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CD7436-FE58-4C39-A72C-46512F0F244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2A6BF5-A9CE-445E-BA9F-0ECABE47560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63C51F-BD0F-459E-BF32-623460EB7A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AAA90B-50E8-47BE-97C9-24A737201CE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BFC703-D5D3-4A3B-8DB4-8E878375640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5B50706-AA17-4DC6-93B2-E344788C1B2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C10341-5CFF-43BB-96CB-4CD7E95E378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753316-AD43-4B04-9868-06B42A17E29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E68E88A-D59E-447D-84E8-2052541DF82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E45856-18DF-40CB-8FC5-88805E4EF0D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67ED7A-B3F8-4411-B773-AC8A80DD6D4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BB646E-672C-4191-95D4-8C58C9747E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482FA5-9A5B-45F8-A4D3-52484FBC8A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</a:t>
            </a:r>
            <a:r>
              <a:rPr b="0" lang="ru-RU" sz="4400" spc="-1" strike="noStrike">
                <a:latin typeface="Arial"/>
              </a:rPr>
              <a:t>текста </a:t>
            </a:r>
            <a:r>
              <a:rPr b="0" lang="ru-RU" sz="4400" spc="-1" strike="noStrike">
                <a:latin typeface="Arial"/>
              </a:rPr>
              <a:t>заглавия </a:t>
            </a:r>
            <a:r>
              <a:rPr b="0" lang="ru-RU" sz="4400" spc="-1" strike="noStrike">
                <a:latin typeface="Arial"/>
              </a:rPr>
              <a:t>щёлкните </a:t>
            </a:r>
            <a:r>
              <a:rPr b="0" lang="ru-RU" sz="4400" spc="-1" strike="noStrike">
                <a:latin typeface="Arial"/>
              </a:rPr>
              <a:t>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82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6"/>
          <p:cNvSpPr/>
          <p:nvPr/>
        </p:nvSpPr>
        <p:spPr>
          <a:xfrm>
            <a:off x="960120" y="384120"/>
            <a:ext cx="10240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Приднестровский государственный университет им. Т.Г. Шевченко</a:t>
            </a:r>
            <a:endParaRPr b="0" lang="ru-RU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Физико-технический институт</a:t>
            </a:r>
            <a:endParaRPr b="0" lang="ru-RU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Факультет информатики и вычислительной техники</a:t>
            </a:r>
            <a:endParaRPr b="0" lang="ru-RU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Кафедра информационных технологий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1417320" y="2103120"/>
            <a:ext cx="9371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Тема: «Разработка веб-приложения</a:t>
            </a:r>
            <a:endParaRPr b="0" lang="ru-RU" sz="2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интернет-магазина электроники</a:t>
            </a:r>
            <a:endParaRPr b="0" lang="ru-RU" sz="23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“</a:t>
            </a:r>
            <a:r>
              <a:rPr b="1" lang="en-US" sz="23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TechnoStore”»</a:t>
            </a:r>
            <a:endParaRPr b="0" lang="ru-RU" sz="2350" spc="-1" strike="noStrike"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1620000" y="5681520"/>
            <a:ext cx="43884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Работу выполнил студент группы ИТ22ДР62ИС</a:t>
            </a:r>
            <a:endParaRPr b="0" lang="ru-RU" sz="15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Степанов Евгений Владиславович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6999840" y="5580000"/>
            <a:ext cx="41598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0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Руководитель,</a:t>
            </a:r>
            <a:endParaRPr b="0" lang="ru-RU" sz="15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к.т.н., преподаватель</a:t>
            </a:r>
            <a:endParaRPr b="0" lang="ru-RU" sz="15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Зинченко Сергей Владимирович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2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1 / 13</a:t>
            </a:r>
            <a:endParaRPr b="0" lang="ru-RU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Цель и задачи работы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2 / 13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822960" y="1143000"/>
            <a:ext cx="10560600" cy="1188000"/>
          </a:xfrm>
          <a:prstGeom prst="roundRect">
            <a:avLst>
              <a:gd name="adj" fmla="val 4615"/>
            </a:avLst>
          </a:prstGeom>
          <a:solidFill>
            <a:srgbClr val="fee2e2"/>
          </a:solidFill>
          <a:ln w="12700">
            <a:solidFill>
              <a:srgbClr val="b91c1c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Text 10"/>
          <p:cNvSpPr/>
          <p:nvPr/>
        </p:nvSpPr>
        <p:spPr>
          <a:xfrm>
            <a:off x="1143000" y="135324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7f1d1d"/>
                </a:solidFill>
                <a:latin typeface="Times New Roman"/>
                <a:ea typeface="Times New Roman"/>
              </a:rPr>
              <a:t>Цель работы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3246120" y="1307520"/>
            <a:ext cx="76802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6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разработать веб-приложение интернет-магазина электроники TechnoStore для выбора товаров, оформления заказов и управления магазином.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1051560" y="2743200"/>
            <a:ext cx="99662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проанализировать требования к интернет-магазину электроники;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спроектировать архитектуру и базу данных;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реализовать каталог, корзину и оформление заказа;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разработать личный кабинет и административную панель.</a:t>
            </a:r>
            <a:endParaRPr b="0" lang="ru-RU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Актуальность темы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3 / 13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914400" y="1234440"/>
            <a:ext cx="2971080" cy="1096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1c1c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" name="Text 10"/>
          <p:cNvSpPr/>
          <p:nvPr/>
        </p:nvSpPr>
        <p:spPr>
          <a:xfrm>
            <a:off x="1051560" y="1417320"/>
            <a:ext cx="2696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b91c1c"/>
                </a:solidFill>
                <a:latin typeface="Times New Roman"/>
                <a:ea typeface="Times New Roman"/>
              </a:rPr>
              <a:t>1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1143000" y="1856160"/>
            <a:ext cx="2513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покупателю нужен быстрый подбор техники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4617720" y="1234440"/>
            <a:ext cx="2971080" cy="1096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Text 13"/>
          <p:cNvSpPr/>
          <p:nvPr/>
        </p:nvSpPr>
        <p:spPr>
          <a:xfrm>
            <a:off x="4754880" y="1417320"/>
            <a:ext cx="2696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563eb"/>
                </a:solidFill>
                <a:latin typeface="Times New Roman"/>
                <a:ea typeface="Times New Roman"/>
              </a:rPr>
              <a:t>2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4846320" y="1856160"/>
            <a:ext cx="2513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магазину требуется единая система заказов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83" name="Shape 15"/>
          <p:cNvSpPr/>
          <p:nvPr/>
        </p:nvSpPr>
        <p:spPr>
          <a:xfrm>
            <a:off x="8321040" y="1234440"/>
            <a:ext cx="2971080" cy="1096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5803d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Text 16"/>
          <p:cNvSpPr/>
          <p:nvPr/>
        </p:nvSpPr>
        <p:spPr>
          <a:xfrm>
            <a:off x="8458200" y="1417320"/>
            <a:ext cx="2696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5803d"/>
                </a:solidFill>
                <a:latin typeface="Times New Roman"/>
                <a:ea typeface="Times New Roman"/>
              </a:rPr>
              <a:t>3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85" name="Text 17"/>
          <p:cNvSpPr/>
          <p:nvPr/>
        </p:nvSpPr>
        <p:spPr>
          <a:xfrm>
            <a:off x="8549640" y="1856160"/>
            <a:ext cx="2513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администратору важно управлять витриной</a:t>
            </a:r>
            <a:endParaRPr b="0" lang="ru-RU" sz="1500" spc="-1" strike="noStrike">
              <a:latin typeface="Arial"/>
            </a:endParaRPr>
          </a:p>
        </p:txBody>
      </p:sp>
      <p:sp>
        <p:nvSpPr>
          <p:cNvPr id="86" name="Shape 18"/>
          <p:cNvSpPr/>
          <p:nvPr/>
        </p:nvSpPr>
        <p:spPr>
          <a:xfrm>
            <a:off x="1051560" y="3154680"/>
            <a:ext cx="10057680" cy="141660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7" name="Text 19"/>
          <p:cNvSpPr/>
          <p:nvPr/>
        </p:nvSpPr>
        <p:spPr>
          <a:xfrm>
            <a:off x="1417320" y="3529440"/>
            <a:ext cx="9326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TechnoStore объединяет каталог, корзину, заказы, пользователей и администрирование в одном веб-приложении.</a:t>
            </a:r>
            <a:endParaRPr b="0" lang="ru-RU" sz="2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Анализ существующих решений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4 / 13</a:t>
            </a:r>
            <a:endParaRPr b="0" lang="ru-RU" sz="1900" spc="-1" strike="noStrike">
              <a:latin typeface="Arial"/>
            </a:endParaRPr>
          </a:p>
        </p:txBody>
      </p:sp>
      <p:graphicFrame>
        <p:nvGraphicFramePr>
          <p:cNvPr id="97" name="Table 0"/>
          <p:cNvGraphicFramePr/>
          <p:nvPr/>
        </p:nvGraphicFramePr>
        <p:xfrm>
          <a:off x="822960" y="1234440"/>
          <a:ext cx="10560960" cy="3108240"/>
        </p:xfrm>
        <a:graphic>
          <a:graphicData uri="http://schemas.openxmlformats.org/drawingml/2006/table">
            <a:tbl>
              <a:tblPr/>
              <a:tblGrid>
                <a:gridCol w="2194560"/>
                <a:gridCol w="3703320"/>
                <a:gridCol w="4663440"/>
              </a:tblGrid>
              <a:tr h="62172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50" spc="-1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Критерий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50" spc="-1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Типовая проблема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650" spc="-1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Решение в TechnoStore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solidFill>
                      <a:srgbClr val="7f1d1d"/>
                    </a:solidFill>
                  </a:tcPr>
                </a:tc>
              </a:tr>
              <a:tr h="62172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Каталог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сложно быстро найти товар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поиск и фильтры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2172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Выбор товара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мало данных для сравнения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характеристики, отзывы, сравнение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2172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Заказы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ручная обработка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корзина и статусы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21720"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Управление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витрина отделена от учёта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73080" rIns="73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650" spc="-1" strike="noStrike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</a:rPr>
                        <a:t>административная панель</a:t>
                      </a:r>
                      <a:endParaRPr b="0" lang="ru-RU" sz="1650" spc="-1" strike="noStrike">
                        <a:latin typeface="Arial"/>
                      </a:endParaRPr>
                    </a:p>
                  </a:txBody>
                  <a:tcPr anchor="t" marL="73080" marR="73080">
                    <a:lnL w="12240">
                      <a:solidFill>
                        <a:srgbClr val="e5e7eb"/>
                      </a:solidFill>
                    </a:lnL>
                    <a:lnR w="12240">
                      <a:solidFill>
                        <a:srgbClr val="e5e7eb"/>
                      </a:solidFill>
                    </a:lnR>
                    <a:lnT w="12240">
                      <a:solidFill>
                        <a:srgbClr val="e5e7eb"/>
                      </a:solidFill>
                    </a:lnT>
                    <a:lnB w="12240">
                      <a:solidFill>
                        <a:srgbClr val="e5e7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8" name="Text 9"/>
          <p:cNvSpPr/>
          <p:nvPr/>
        </p:nvSpPr>
        <p:spPr>
          <a:xfrm>
            <a:off x="1188720" y="4983480"/>
            <a:ext cx="9783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Вывод: собственная разработка позволяет учесть нужные функции и структуру данных проекта.</a:t>
            </a:r>
            <a:endParaRPr b="0" lang="ru-RU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Методы и технологии разработки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106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5 / 13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868680" y="1280160"/>
            <a:ext cx="479988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0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системный анализ предметной области;</a:t>
            </a:r>
            <a:endParaRPr b="0" lang="ru-RU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0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проектирование клиент-серверной архитектуры;</a:t>
            </a:r>
            <a:endParaRPr b="0" lang="ru-RU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0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моделирование реляционной базы данных;</a:t>
            </a:r>
            <a:endParaRPr b="0" lang="ru-RU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0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разработка и проверка пользовательских сценариев.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109" name="Shape 10"/>
          <p:cNvSpPr/>
          <p:nvPr/>
        </p:nvSpPr>
        <p:spPr>
          <a:xfrm>
            <a:off x="6263640" y="1234440"/>
            <a:ext cx="2056680" cy="6850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Text 11"/>
          <p:cNvSpPr/>
          <p:nvPr/>
        </p:nvSpPr>
        <p:spPr>
          <a:xfrm>
            <a:off x="6373440" y="1454040"/>
            <a:ext cx="1828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Next.js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8595360" y="1234440"/>
            <a:ext cx="2056680" cy="685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2" name="Text 13"/>
          <p:cNvSpPr/>
          <p:nvPr/>
        </p:nvSpPr>
        <p:spPr>
          <a:xfrm>
            <a:off x="8705160" y="1454040"/>
            <a:ext cx="1828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React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13" name="Shape 14"/>
          <p:cNvSpPr/>
          <p:nvPr/>
        </p:nvSpPr>
        <p:spPr>
          <a:xfrm>
            <a:off x="6263640" y="2286000"/>
            <a:ext cx="2056680" cy="6850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Text 15"/>
          <p:cNvSpPr/>
          <p:nvPr/>
        </p:nvSpPr>
        <p:spPr>
          <a:xfrm>
            <a:off x="6373440" y="2505600"/>
            <a:ext cx="1828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TypeScript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8595360" y="2286000"/>
            <a:ext cx="2056680" cy="685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Text 17"/>
          <p:cNvSpPr/>
          <p:nvPr/>
        </p:nvSpPr>
        <p:spPr>
          <a:xfrm>
            <a:off x="8705160" y="2505600"/>
            <a:ext cx="1828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Prisma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17" name="Shape 18"/>
          <p:cNvSpPr/>
          <p:nvPr/>
        </p:nvSpPr>
        <p:spPr>
          <a:xfrm>
            <a:off x="6263640" y="3337560"/>
            <a:ext cx="2056680" cy="6850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Text 19"/>
          <p:cNvSpPr/>
          <p:nvPr/>
        </p:nvSpPr>
        <p:spPr>
          <a:xfrm>
            <a:off x="6373440" y="3557160"/>
            <a:ext cx="1828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PostgreSQL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8595360" y="3337560"/>
            <a:ext cx="2056680" cy="685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Text 21"/>
          <p:cNvSpPr/>
          <p:nvPr/>
        </p:nvSpPr>
        <p:spPr>
          <a:xfrm>
            <a:off x="8705160" y="3557160"/>
            <a:ext cx="1828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Redis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Архитектура приложения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6 / 13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777240" y="1508760"/>
            <a:ext cx="1828080" cy="1325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b91c1c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Text 10"/>
          <p:cNvSpPr/>
          <p:nvPr/>
        </p:nvSpPr>
        <p:spPr>
          <a:xfrm>
            <a:off x="914400" y="1764720"/>
            <a:ext cx="1553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5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b91c1c"/>
                </a:solidFill>
                <a:latin typeface="Times New Roman"/>
                <a:ea typeface="Times New Roman"/>
              </a:rPr>
              <a:t>Next.js App Router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941760" y="2121480"/>
            <a:ext cx="1499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страницы магазина, кабинета и админ-панели</a:t>
            </a:r>
            <a:endParaRPr b="0" lang="ru-RU" sz="1150" spc="-1" strike="noStrike"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2642760" y="1965960"/>
            <a:ext cx="291960" cy="346680"/>
          </a:xfrm>
          <a:prstGeom prst="chevron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13"/>
          <p:cNvSpPr/>
          <p:nvPr/>
        </p:nvSpPr>
        <p:spPr>
          <a:xfrm>
            <a:off x="3017520" y="1508760"/>
            <a:ext cx="1828080" cy="1325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59e0b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Text 14"/>
          <p:cNvSpPr/>
          <p:nvPr/>
        </p:nvSpPr>
        <p:spPr>
          <a:xfrm>
            <a:off x="3154680" y="1764720"/>
            <a:ext cx="1553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f59e0b"/>
                </a:solidFill>
                <a:latin typeface="Times New Roman"/>
                <a:ea typeface="Times New Roman"/>
              </a:rPr>
              <a:t>API routes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3182040" y="2121480"/>
            <a:ext cx="1499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серверные обработчики запросов</a:t>
            </a:r>
            <a:endParaRPr b="0" lang="ru-RU" sz="1150" spc="-1" strike="noStrike"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4883040" y="1965960"/>
            <a:ext cx="291960" cy="346680"/>
          </a:xfrm>
          <a:prstGeom prst="chevron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17"/>
          <p:cNvSpPr/>
          <p:nvPr/>
        </p:nvSpPr>
        <p:spPr>
          <a:xfrm>
            <a:off x="5257800" y="1508760"/>
            <a:ext cx="1828080" cy="1325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2563eb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Text 18"/>
          <p:cNvSpPr/>
          <p:nvPr/>
        </p:nvSpPr>
        <p:spPr>
          <a:xfrm>
            <a:off x="5394960" y="1764720"/>
            <a:ext cx="1553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2563eb"/>
                </a:solidFill>
                <a:latin typeface="Times New Roman"/>
                <a:ea typeface="Times New Roman"/>
              </a:rPr>
              <a:t>Service layer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5422320" y="2121480"/>
            <a:ext cx="1499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бизнес-логика заказов, корзины и промокодов</a:t>
            </a:r>
            <a:endParaRPr b="0" lang="ru-RU" sz="1150" spc="-1" strike="noStrike">
              <a:latin typeface="Arial"/>
            </a:endParaRPr>
          </a:p>
        </p:txBody>
      </p:sp>
      <p:sp>
        <p:nvSpPr>
          <p:cNvPr id="141" name="Shape 20"/>
          <p:cNvSpPr/>
          <p:nvPr/>
        </p:nvSpPr>
        <p:spPr>
          <a:xfrm>
            <a:off x="7123320" y="1965960"/>
            <a:ext cx="291960" cy="346680"/>
          </a:xfrm>
          <a:prstGeom prst="chevron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21"/>
          <p:cNvSpPr/>
          <p:nvPr/>
        </p:nvSpPr>
        <p:spPr>
          <a:xfrm>
            <a:off x="7498080" y="1508760"/>
            <a:ext cx="1828080" cy="1325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15803d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3" name="Text 22"/>
          <p:cNvSpPr/>
          <p:nvPr/>
        </p:nvSpPr>
        <p:spPr>
          <a:xfrm>
            <a:off x="7635240" y="1764720"/>
            <a:ext cx="1553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15803d"/>
                </a:solidFill>
                <a:latin typeface="Times New Roman"/>
                <a:ea typeface="Times New Roman"/>
              </a:rPr>
              <a:t>Repository layer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144" name="Text 23"/>
          <p:cNvSpPr/>
          <p:nvPr/>
        </p:nvSpPr>
        <p:spPr>
          <a:xfrm>
            <a:off x="7662600" y="2121480"/>
            <a:ext cx="1499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доступ к данным через Prisma ORM</a:t>
            </a:r>
            <a:endParaRPr b="0" lang="ru-RU" sz="1150" spc="-1" strike="noStrike">
              <a:latin typeface="Arial"/>
            </a:endParaRPr>
          </a:p>
        </p:txBody>
      </p:sp>
      <p:sp>
        <p:nvSpPr>
          <p:cNvPr id="145" name="Shape 24"/>
          <p:cNvSpPr/>
          <p:nvPr/>
        </p:nvSpPr>
        <p:spPr>
          <a:xfrm>
            <a:off x="9363600" y="1965960"/>
            <a:ext cx="291960" cy="346680"/>
          </a:xfrm>
          <a:prstGeom prst="chevron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25"/>
          <p:cNvSpPr/>
          <p:nvPr/>
        </p:nvSpPr>
        <p:spPr>
          <a:xfrm>
            <a:off x="9738360" y="1508760"/>
            <a:ext cx="1828080" cy="1325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7f1d1d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7" name="Text 26"/>
          <p:cNvSpPr/>
          <p:nvPr/>
        </p:nvSpPr>
        <p:spPr>
          <a:xfrm>
            <a:off x="9875520" y="1764720"/>
            <a:ext cx="1553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7f1d1d"/>
                </a:solidFill>
                <a:latin typeface="Times New Roman"/>
                <a:ea typeface="Times New Roman"/>
              </a:rPr>
              <a:t>PostgreSQL + Redis</a:t>
            </a:r>
            <a:endParaRPr b="0" lang="ru-RU" sz="1550" spc="-1" strike="noStrike">
              <a:latin typeface="Arial"/>
            </a:endParaRPr>
          </a:p>
        </p:txBody>
      </p:sp>
      <p:sp>
        <p:nvSpPr>
          <p:cNvPr id="148" name="Text 27"/>
          <p:cNvSpPr/>
          <p:nvPr/>
        </p:nvSpPr>
        <p:spPr>
          <a:xfrm>
            <a:off x="9902880" y="2121480"/>
            <a:ext cx="1499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основная БД и кэш каталога</a:t>
            </a:r>
            <a:endParaRPr b="0" lang="ru-RU" sz="1150" spc="-1" strike="noStrike">
              <a:latin typeface="Arial"/>
            </a:endParaRPr>
          </a:p>
        </p:txBody>
      </p:sp>
      <p:sp>
        <p:nvSpPr>
          <p:cNvPr id="149" name="Shape 28"/>
          <p:cNvSpPr/>
          <p:nvPr/>
        </p:nvSpPr>
        <p:spPr>
          <a:xfrm>
            <a:off x="1234440" y="3794760"/>
            <a:ext cx="4342680" cy="95940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Text 29"/>
          <p:cNvSpPr/>
          <p:nvPr/>
        </p:nvSpPr>
        <p:spPr>
          <a:xfrm>
            <a:off x="1600200" y="4005000"/>
            <a:ext cx="3611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Защита и авторизация</a:t>
            </a:r>
            <a:endParaRPr b="0" lang="ru-RU" sz="1850" spc="-1" strike="noStrike">
              <a:latin typeface="Arial"/>
            </a:endParaRPr>
          </a:p>
        </p:txBody>
      </p:sp>
      <p:sp>
        <p:nvSpPr>
          <p:cNvPr id="151" name="Text 30"/>
          <p:cNvSpPr/>
          <p:nvPr/>
        </p:nvSpPr>
        <p:spPr>
          <a:xfrm>
            <a:off x="1508760" y="4316040"/>
            <a:ext cx="3794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SMS + JWT в httpOnly cookie, проверка роли в middleware и API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52" name="Shape 31"/>
          <p:cNvSpPr/>
          <p:nvPr/>
        </p:nvSpPr>
        <p:spPr>
          <a:xfrm>
            <a:off x="6492240" y="3794760"/>
            <a:ext cx="4342680" cy="95940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5803d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Text 32"/>
          <p:cNvSpPr/>
          <p:nvPr/>
        </p:nvSpPr>
        <p:spPr>
          <a:xfrm>
            <a:off x="6858000" y="4005000"/>
            <a:ext cx="3611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5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Кэширование и устойчивость</a:t>
            </a:r>
            <a:endParaRPr b="0" lang="ru-RU" sz="1850" spc="-1" strike="noStrike">
              <a:latin typeface="Arial"/>
            </a:endParaRPr>
          </a:p>
        </p:txBody>
      </p:sp>
      <p:sp>
        <p:nvSpPr>
          <p:cNvPr id="154" name="Text 33"/>
          <p:cNvSpPr/>
          <p:nvPr/>
        </p:nvSpPr>
        <p:spPr>
          <a:xfrm>
            <a:off x="6766560" y="4316040"/>
            <a:ext cx="3794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1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Redis ускоряет каталог, при сбое данные загружаются из PostgreSQL</a:t>
            </a:r>
            <a:endParaRPr b="0" lang="ru-RU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Каталог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7 / 13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868680" y="1417320"/>
            <a:ext cx="365688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сетка карточек товаров;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поиск по названию;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фильтры по категории, бренду и цене.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165" name="Shape 10"/>
          <p:cNvSpPr/>
          <p:nvPr/>
        </p:nvSpPr>
        <p:spPr>
          <a:xfrm>
            <a:off x="4800600" y="1143000"/>
            <a:ext cx="6491520" cy="452556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3970">
            <a:solidFill>
              <a:srgbClr val="7f1d1d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Shape 11"/>
          <p:cNvSpPr/>
          <p:nvPr/>
        </p:nvSpPr>
        <p:spPr>
          <a:xfrm>
            <a:off x="4965120" y="1307520"/>
            <a:ext cx="6162480" cy="4196520"/>
          </a:xfrm>
          <a:prstGeom prst="rect">
            <a:avLst/>
          </a:prstGeom>
          <a:solidFill>
            <a:srgbClr val="f8fafc"/>
          </a:solidFill>
          <a:ln w="1397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12"/>
          <p:cNvSpPr/>
          <p:nvPr/>
        </p:nvSpPr>
        <p:spPr>
          <a:xfrm>
            <a:off x="5212080" y="1554480"/>
            <a:ext cx="5669280" cy="370332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Shape 13"/>
          <p:cNvSpPr/>
          <p:nvPr/>
        </p:nvSpPr>
        <p:spPr>
          <a:xfrm flipH="1">
            <a:off x="5212080" y="1554480"/>
            <a:ext cx="5669280" cy="370332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14"/>
          <p:cNvSpPr/>
          <p:nvPr/>
        </p:nvSpPr>
        <p:spPr>
          <a:xfrm>
            <a:off x="5330880" y="1645920"/>
            <a:ext cx="1279440" cy="32832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5"/>
          <p:cNvSpPr/>
          <p:nvPr/>
        </p:nvSpPr>
        <p:spPr>
          <a:xfrm>
            <a:off x="5459040" y="1746360"/>
            <a:ext cx="1023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7f1d1d"/>
                </a:solidFill>
                <a:latin typeface="Times New Roman"/>
                <a:ea typeface="Times New Roman"/>
              </a:rPr>
              <a:t>Скриншот</a:t>
            </a:r>
            <a:endParaRPr b="0" lang="ru-RU" sz="1250" spc="-1" strike="noStrike">
              <a:latin typeface="Arial"/>
            </a:endParaRPr>
          </a:p>
        </p:txBody>
      </p:sp>
      <p:sp>
        <p:nvSpPr>
          <p:cNvPr id="171" name="Text 16"/>
          <p:cNvSpPr/>
          <p:nvPr/>
        </p:nvSpPr>
        <p:spPr>
          <a:xfrm>
            <a:off x="5303520" y="3086280"/>
            <a:ext cx="54856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Каталог товаров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5486400" y="3497760"/>
            <a:ext cx="5119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b5563"/>
                </a:solidFill>
                <a:latin typeface="Times New Roman"/>
                <a:ea typeface="Times New Roman"/>
              </a:rPr>
              <a:t>Раздел с карточками, поиском и фильтрами слева</a:t>
            </a:r>
            <a:endParaRPr b="0" lang="ru-RU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Карточка товара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8 / 13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868680" y="1417320"/>
            <a:ext cx="365688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фотография и характеристики;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избранное и сравнение;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отзывы и рейтинг.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4800600" y="1143000"/>
            <a:ext cx="6491520" cy="452556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3970">
            <a:solidFill>
              <a:srgbClr val="7f1d1d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Shape 11"/>
          <p:cNvSpPr/>
          <p:nvPr/>
        </p:nvSpPr>
        <p:spPr>
          <a:xfrm>
            <a:off x="4965120" y="1307520"/>
            <a:ext cx="6162480" cy="4196520"/>
          </a:xfrm>
          <a:prstGeom prst="rect">
            <a:avLst/>
          </a:prstGeom>
          <a:solidFill>
            <a:srgbClr val="f8fafc"/>
          </a:solidFill>
          <a:ln w="1397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12"/>
          <p:cNvSpPr/>
          <p:nvPr/>
        </p:nvSpPr>
        <p:spPr>
          <a:xfrm>
            <a:off x="5212080" y="1554480"/>
            <a:ext cx="5669280" cy="370332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13"/>
          <p:cNvSpPr/>
          <p:nvPr/>
        </p:nvSpPr>
        <p:spPr>
          <a:xfrm flipH="1">
            <a:off x="5212080" y="1554480"/>
            <a:ext cx="5669280" cy="370332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Shape 14"/>
          <p:cNvSpPr/>
          <p:nvPr/>
        </p:nvSpPr>
        <p:spPr>
          <a:xfrm>
            <a:off x="5330880" y="1645920"/>
            <a:ext cx="1279440" cy="32832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5"/>
          <p:cNvSpPr/>
          <p:nvPr/>
        </p:nvSpPr>
        <p:spPr>
          <a:xfrm>
            <a:off x="5459040" y="1746360"/>
            <a:ext cx="1023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7f1d1d"/>
                </a:solidFill>
                <a:latin typeface="Times New Roman"/>
                <a:ea typeface="Times New Roman"/>
              </a:rPr>
              <a:t>Скриншот</a:t>
            </a:r>
            <a:endParaRPr b="0" lang="ru-RU" sz="1250" spc="-1" strike="noStrike"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5303520" y="3086280"/>
            <a:ext cx="54856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Страница товара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5486400" y="3497760"/>
            <a:ext cx="5119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5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b5563"/>
                </a:solidFill>
                <a:latin typeface="Times New Roman"/>
                <a:ea typeface="Times New Roman"/>
              </a:rPr>
              <a:t>Экран с описанием, ценой, рейтингом и действиями пользователя</a:t>
            </a:r>
            <a:endParaRPr b="0" lang="ru-RU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Корзина и оформление заказа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198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9 / 13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868680" y="1417320"/>
            <a:ext cx="365688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корзина авторизованного пользователя;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проверка состава заказа;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оформление с оплатой при получении.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4800600" y="1143000"/>
            <a:ext cx="6491520" cy="452556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3970">
            <a:solidFill>
              <a:srgbClr val="7f1d1d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11"/>
          <p:cNvSpPr/>
          <p:nvPr/>
        </p:nvSpPr>
        <p:spPr>
          <a:xfrm>
            <a:off x="4965120" y="1307520"/>
            <a:ext cx="6162480" cy="4196520"/>
          </a:xfrm>
          <a:prstGeom prst="rect">
            <a:avLst/>
          </a:prstGeom>
          <a:solidFill>
            <a:srgbClr val="f8fafc"/>
          </a:solidFill>
          <a:ln w="1397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12"/>
          <p:cNvSpPr/>
          <p:nvPr/>
        </p:nvSpPr>
        <p:spPr>
          <a:xfrm>
            <a:off x="5212080" y="1554480"/>
            <a:ext cx="5669280" cy="370332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Shape 13"/>
          <p:cNvSpPr/>
          <p:nvPr/>
        </p:nvSpPr>
        <p:spPr>
          <a:xfrm flipH="1">
            <a:off x="5212080" y="1554480"/>
            <a:ext cx="5669280" cy="370332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Shape 14"/>
          <p:cNvSpPr/>
          <p:nvPr/>
        </p:nvSpPr>
        <p:spPr>
          <a:xfrm>
            <a:off x="5330880" y="1645920"/>
            <a:ext cx="1279440" cy="32832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5"/>
          <p:cNvSpPr/>
          <p:nvPr/>
        </p:nvSpPr>
        <p:spPr>
          <a:xfrm>
            <a:off x="5459040" y="1746360"/>
            <a:ext cx="1023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7f1d1d"/>
                </a:solidFill>
                <a:latin typeface="Times New Roman"/>
                <a:ea typeface="Times New Roman"/>
              </a:rPr>
              <a:t>Скриншот</a:t>
            </a:r>
            <a:endParaRPr b="0" lang="ru-RU" sz="1250" spc="-1" strike="noStrike"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5303520" y="3086280"/>
            <a:ext cx="54856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Корзина и заказ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208" name="Text 17"/>
          <p:cNvSpPr/>
          <p:nvPr/>
        </p:nvSpPr>
        <p:spPr>
          <a:xfrm>
            <a:off x="5486400" y="3497760"/>
            <a:ext cx="5119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b5563"/>
                </a:solidFill>
                <a:latin typeface="Times New Roman"/>
                <a:ea typeface="Times New Roman"/>
              </a:rPr>
              <a:t>Экран со списком товаров, итоговой суммой и подтверждением заказа</a:t>
            </a:r>
            <a:endParaRPr b="0" lang="ru-RU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Личный кабинет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216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10 / 13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868680" y="1417320"/>
            <a:ext cx="365688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вход по SMS-коду;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история заказов;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данные пользователя.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219" name="Shape 10"/>
          <p:cNvSpPr/>
          <p:nvPr/>
        </p:nvSpPr>
        <p:spPr>
          <a:xfrm>
            <a:off x="4800600" y="1143000"/>
            <a:ext cx="6491520" cy="452556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3970">
            <a:solidFill>
              <a:srgbClr val="7f1d1d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0" name="Shape 11"/>
          <p:cNvSpPr/>
          <p:nvPr/>
        </p:nvSpPr>
        <p:spPr>
          <a:xfrm>
            <a:off x="4965120" y="1307520"/>
            <a:ext cx="6162480" cy="4196520"/>
          </a:xfrm>
          <a:prstGeom prst="rect">
            <a:avLst/>
          </a:prstGeom>
          <a:solidFill>
            <a:srgbClr val="f8fafc"/>
          </a:solidFill>
          <a:ln w="1397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Shape 12"/>
          <p:cNvSpPr/>
          <p:nvPr/>
        </p:nvSpPr>
        <p:spPr>
          <a:xfrm>
            <a:off x="5212080" y="1554480"/>
            <a:ext cx="5669280" cy="370332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Shape 13"/>
          <p:cNvSpPr/>
          <p:nvPr/>
        </p:nvSpPr>
        <p:spPr>
          <a:xfrm flipH="1">
            <a:off x="5212080" y="1554480"/>
            <a:ext cx="5669280" cy="370332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14"/>
          <p:cNvSpPr/>
          <p:nvPr/>
        </p:nvSpPr>
        <p:spPr>
          <a:xfrm>
            <a:off x="5330880" y="1645920"/>
            <a:ext cx="1279440" cy="32832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5"/>
          <p:cNvSpPr/>
          <p:nvPr/>
        </p:nvSpPr>
        <p:spPr>
          <a:xfrm>
            <a:off x="5459040" y="1746360"/>
            <a:ext cx="1023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7f1d1d"/>
                </a:solidFill>
                <a:latin typeface="Times New Roman"/>
                <a:ea typeface="Times New Roman"/>
              </a:rPr>
              <a:t>Скриншот</a:t>
            </a:r>
            <a:endParaRPr b="0" lang="ru-RU" sz="1250" spc="-1" strike="noStrike">
              <a:latin typeface="Arial"/>
            </a:endParaRPr>
          </a:p>
        </p:txBody>
      </p:sp>
      <p:sp>
        <p:nvSpPr>
          <p:cNvPr id="225" name="Text 16"/>
          <p:cNvSpPr/>
          <p:nvPr/>
        </p:nvSpPr>
        <p:spPr>
          <a:xfrm>
            <a:off x="5303520" y="3086280"/>
            <a:ext cx="54856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Личный кабинет пользователя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226" name="Text 17"/>
          <p:cNvSpPr/>
          <p:nvPr/>
        </p:nvSpPr>
        <p:spPr>
          <a:xfrm>
            <a:off x="5486400" y="3497760"/>
            <a:ext cx="5119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b5563"/>
                </a:solidFill>
                <a:latin typeface="Times New Roman"/>
                <a:ea typeface="Times New Roman"/>
              </a:rPr>
              <a:t>Профиль с персональными данными и историей заказов</a:t>
            </a:r>
            <a:endParaRPr b="0" lang="ru-RU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Административная панель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11 / 13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868680" y="1417320"/>
            <a:ext cx="3656880" cy="20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товары, категории и бренды;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заказы и пользователи;</a:t>
            </a:r>
            <a:endParaRPr b="0" lang="ru-RU" sz="2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отзывы и промокоды.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4800600" y="1143000"/>
            <a:ext cx="6491520" cy="452556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3970">
            <a:solidFill>
              <a:srgbClr val="7f1d1d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11"/>
          <p:cNvSpPr/>
          <p:nvPr/>
        </p:nvSpPr>
        <p:spPr>
          <a:xfrm>
            <a:off x="4965120" y="1307520"/>
            <a:ext cx="6162480" cy="4196520"/>
          </a:xfrm>
          <a:prstGeom prst="rect">
            <a:avLst/>
          </a:prstGeom>
          <a:solidFill>
            <a:srgbClr val="f8fafc"/>
          </a:solidFill>
          <a:ln w="1397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Shape 12"/>
          <p:cNvSpPr/>
          <p:nvPr/>
        </p:nvSpPr>
        <p:spPr>
          <a:xfrm>
            <a:off x="5212080" y="1554480"/>
            <a:ext cx="5669280" cy="370332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Shape 13"/>
          <p:cNvSpPr/>
          <p:nvPr/>
        </p:nvSpPr>
        <p:spPr>
          <a:xfrm flipH="1">
            <a:off x="5212080" y="1554480"/>
            <a:ext cx="5669280" cy="370332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14"/>
          <p:cNvSpPr/>
          <p:nvPr/>
        </p:nvSpPr>
        <p:spPr>
          <a:xfrm>
            <a:off x="5330880" y="1645920"/>
            <a:ext cx="1279440" cy="32832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5"/>
          <p:cNvSpPr/>
          <p:nvPr/>
        </p:nvSpPr>
        <p:spPr>
          <a:xfrm>
            <a:off x="5459040" y="1746360"/>
            <a:ext cx="1023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7f1d1d"/>
                </a:solidFill>
                <a:latin typeface="Times New Roman"/>
                <a:ea typeface="Times New Roman"/>
              </a:rPr>
              <a:t>Скриншот</a:t>
            </a:r>
            <a:endParaRPr b="0" lang="ru-RU" sz="1250" spc="-1" strike="noStrike">
              <a:latin typeface="Arial"/>
            </a:endParaRPr>
          </a:p>
        </p:txBody>
      </p:sp>
      <p:sp>
        <p:nvSpPr>
          <p:cNvPr id="243" name="Text 16"/>
          <p:cNvSpPr/>
          <p:nvPr/>
        </p:nvSpPr>
        <p:spPr>
          <a:xfrm>
            <a:off x="5303520" y="3086280"/>
            <a:ext cx="54856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Административная панель</a:t>
            </a:r>
            <a:endParaRPr b="0" lang="ru-RU" sz="2100" spc="-1" strike="noStrike">
              <a:latin typeface="Arial"/>
            </a:endParaRPr>
          </a:p>
        </p:txBody>
      </p:sp>
      <p:sp>
        <p:nvSpPr>
          <p:cNvPr id="244" name="Text 17"/>
          <p:cNvSpPr/>
          <p:nvPr/>
        </p:nvSpPr>
        <p:spPr>
          <a:xfrm>
            <a:off x="5486400" y="3497760"/>
            <a:ext cx="5119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b5563"/>
                </a:solidFill>
                <a:latin typeface="Times New Roman"/>
                <a:ea typeface="Times New Roman"/>
              </a:rPr>
              <a:t>Интерфейс управления каталогом, заказами и пользователями</a:t>
            </a:r>
            <a:endParaRPr b="0" lang="ru-RU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65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6"/>
          <p:cNvSpPr/>
          <p:nvPr/>
        </p:nvSpPr>
        <p:spPr>
          <a:xfrm>
            <a:off x="640080" y="365760"/>
            <a:ext cx="10057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Основные проектные решения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252" name="Shape 7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8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12 / 13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254" name="Shape 9"/>
          <p:cNvSpPr/>
          <p:nvPr/>
        </p:nvSpPr>
        <p:spPr>
          <a:xfrm>
            <a:off x="914400" y="1325880"/>
            <a:ext cx="4571280" cy="11422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b91c1c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5" name="Text 10"/>
          <p:cNvSpPr/>
          <p:nvPr/>
        </p:nvSpPr>
        <p:spPr>
          <a:xfrm>
            <a:off x="1234440" y="1572840"/>
            <a:ext cx="3885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b91c1c"/>
                </a:solidFill>
                <a:latin typeface="Times New Roman"/>
                <a:ea typeface="Times New Roman"/>
              </a:rPr>
              <a:t>Авторизация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56" name="Text 11"/>
          <p:cNvSpPr/>
          <p:nvPr/>
        </p:nvSpPr>
        <p:spPr>
          <a:xfrm>
            <a:off x="1234440" y="1947600"/>
            <a:ext cx="3885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SMS-код и httpOnly cookie</a:t>
            </a:r>
            <a:endParaRPr b="0" lang="ru-RU" sz="1700" spc="-1" strike="noStrike">
              <a:latin typeface="Arial"/>
            </a:endParaRPr>
          </a:p>
        </p:txBody>
      </p:sp>
      <p:sp>
        <p:nvSpPr>
          <p:cNvPr id="257" name="Shape 12"/>
          <p:cNvSpPr/>
          <p:nvPr/>
        </p:nvSpPr>
        <p:spPr>
          <a:xfrm>
            <a:off x="6309360" y="1325880"/>
            <a:ext cx="4571280" cy="11422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2563eb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Text 13"/>
          <p:cNvSpPr/>
          <p:nvPr/>
        </p:nvSpPr>
        <p:spPr>
          <a:xfrm>
            <a:off x="6629400" y="1572840"/>
            <a:ext cx="3885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563eb"/>
                </a:solidFill>
                <a:latin typeface="Times New Roman"/>
                <a:ea typeface="Times New Roman"/>
              </a:rPr>
              <a:t>Данные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59" name="Text 14"/>
          <p:cNvSpPr/>
          <p:nvPr/>
        </p:nvSpPr>
        <p:spPr>
          <a:xfrm>
            <a:off x="6629400" y="1947600"/>
            <a:ext cx="3885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PostgreSQL и Prisma ORM</a:t>
            </a:r>
            <a:endParaRPr b="0" lang="ru-RU" sz="1700" spc="-1" strike="noStrike">
              <a:latin typeface="Arial"/>
            </a:endParaRPr>
          </a:p>
        </p:txBody>
      </p:sp>
      <p:sp>
        <p:nvSpPr>
          <p:cNvPr id="260" name="Shape 15"/>
          <p:cNvSpPr/>
          <p:nvPr/>
        </p:nvSpPr>
        <p:spPr>
          <a:xfrm>
            <a:off x="914400" y="3154680"/>
            <a:ext cx="4571280" cy="11422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5803d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1" name="Text 16"/>
          <p:cNvSpPr/>
          <p:nvPr/>
        </p:nvSpPr>
        <p:spPr>
          <a:xfrm>
            <a:off x="1234440" y="3401640"/>
            <a:ext cx="3885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5803d"/>
                </a:solidFill>
                <a:latin typeface="Times New Roman"/>
                <a:ea typeface="Times New Roman"/>
              </a:rPr>
              <a:t>Заказ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62" name="Text 17"/>
          <p:cNvSpPr/>
          <p:nvPr/>
        </p:nvSpPr>
        <p:spPr>
          <a:xfrm>
            <a:off x="1234440" y="3776400"/>
            <a:ext cx="3885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серверный расчёт и транзакции</a:t>
            </a:r>
            <a:endParaRPr b="0" lang="ru-RU" sz="1700" spc="-1" strike="noStrike">
              <a:latin typeface="Arial"/>
            </a:endParaRPr>
          </a:p>
        </p:txBody>
      </p:sp>
      <p:sp>
        <p:nvSpPr>
          <p:cNvPr id="263" name="Shape 18"/>
          <p:cNvSpPr/>
          <p:nvPr/>
        </p:nvSpPr>
        <p:spPr>
          <a:xfrm>
            <a:off x="6309360" y="3154680"/>
            <a:ext cx="4571280" cy="11422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59e0b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4" name="Text 19"/>
          <p:cNvSpPr/>
          <p:nvPr/>
        </p:nvSpPr>
        <p:spPr>
          <a:xfrm>
            <a:off x="6629400" y="3401640"/>
            <a:ext cx="3885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59e0b"/>
                </a:solidFill>
                <a:latin typeface="Times New Roman"/>
                <a:ea typeface="Times New Roman"/>
              </a:rPr>
              <a:t>Защита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265" name="Text 20"/>
          <p:cNvSpPr/>
          <p:nvPr/>
        </p:nvSpPr>
        <p:spPr>
          <a:xfrm>
            <a:off x="6629400" y="3776400"/>
            <a:ext cx="3885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проверка ролей и прав доступа</a:t>
            </a:r>
            <a:endParaRPr b="0" lang="ru-RU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afafc"/>
          </a:solidFill>
          <a:ln w="12700">
            <a:solidFill>
              <a:srgbClr val="fafa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Shape 1"/>
          <p:cNvSpPr/>
          <p:nvPr/>
        </p:nvSpPr>
        <p:spPr>
          <a:xfrm>
            <a:off x="9966960" y="-594360"/>
            <a:ext cx="2651040" cy="26510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ee2e2">
              <a:alpha val="88000"/>
            </a:srgbClr>
          </a:solidFill>
          <a:ln w="12700">
            <a:solidFill>
              <a:srgbClr val="fee2e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Shape 2"/>
          <p:cNvSpPr/>
          <p:nvPr/>
        </p:nvSpPr>
        <p:spPr>
          <a:xfrm>
            <a:off x="-960120" y="5212080"/>
            <a:ext cx="2422440" cy="2422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3"/>
          <p:cNvSpPr/>
          <p:nvPr/>
        </p:nvSpPr>
        <p:spPr>
          <a:xfrm rot="1680000">
            <a:off x="10561320" y="5257800"/>
            <a:ext cx="730800" cy="685080"/>
          </a:xfrm>
          <a:prstGeom prst="chevron">
            <a:avLst>
              <a:gd name="adj" fmla="val 50000"/>
            </a:avLst>
          </a:prstGeom>
          <a:solidFill>
            <a:srgbClr val="b91c1c">
              <a:alpha val="18000"/>
            </a:srgbClr>
          </a:solidFill>
          <a:ln w="12700">
            <a:solidFill>
              <a:srgbClr val="b91c1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Shape 4"/>
          <p:cNvSpPr/>
          <p:nvPr/>
        </p:nvSpPr>
        <p:spPr>
          <a:xfrm>
            <a:off x="164520" y="164520"/>
            <a:ext cx="72360" cy="6262920"/>
          </a:xfrm>
          <a:prstGeom prst="rect">
            <a:avLst/>
          </a:prstGeom>
          <a:solidFill>
            <a:srgbClr val="7f1d1d">
              <a:alpha val="82000"/>
            </a:srgbClr>
          </a:solidFill>
          <a:ln w="12700">
            <a:solidFill>
              <a:srgbClr val="7f1d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Shape 5"/>
          <p:cNvSpPr/>
          <p:nvPr/>
        </p:nvSpPr>
        <p:spPr>
          <a:xfrm>
            <a:off x="292680" y="164520"/>
            <a:ext cx="36000" cy="626292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6"/>
          <p:cNvSpPr/>
          <p:nvPr/>
        </p:nvSpPr>
        <p:spPr>
          <a:xfrm>
            <a:off x="777240" y="658440"/>
            <a:ext cx="106977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Результаты работы</a:t>
            </a:r>
            <a:endParaRPr b="0" lang="ru-RU" sz="3600" spc="-1" strike="noStrike">
              <a:latin typeface="Arial"/>
            </a:endParaRPr>
          </a:p>
        </p:txBody>
      </p:sp>
      <p:sp>
        <p:nvSpPr>
          <p:cNvPr id="273" name="Text 7"/>
          <p:cNvSpPr/>
          <p:nvPr/>
        </p:nvSpPr>
        <p:spPr>
          <a:xfrm>
            <a:off x="1143000" y="1691640"/>
            <a:ext cx="99662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7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разработано веб-приложение интернет-магазина электроники TechnoStore;</a:t>
            </a:r>
            <a:endParaRPr b="0" lang="ru-RU" sz="2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7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реализованы каталог, карточка товара, корзина и оформление заказа;</a:t>
            </a:r>
            <a:endParaRPr b="0" lang="ru-RU" sz="2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7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созданы личный кабинет покупателя и административная панель;</a:t>
            </a:r>
            <a:endParaRPr b="0" lang="ru-RU" sz="2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11111"/>
              </a:buClr>
              <a:buFont typeface="Symbol"/>
              <a:buChar char=""/>
            </a:pPr>
            <a:r>
              <a:rPr b="0" lang="en-US" sz="27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подготовлена техническая основа для развития проекта.</a:t>
            </a:r>
            <a:endParaRPr b="0" lang="ru-RU" sz="2700" spc="-1" strike="noStrike">
              <a:latin typeface="Arial"/>
            </a:endParaRPr>
          </a:p>
        </p:txBody>
      </p:sp>
      <p:sp>
        <p:nvSpPr>
          <p:cNvPr id="274" name="Shape 8"/>
          <p:cNvSpPr/>
          <p:nvPr/>
        </p:nvSpPr>
        <p:spPr>
          <a:xfrm>
            <a:off x="594360" y="6364080"/>
            <a:ext cx="10561320" cy="360"/>
          </a:xfrm>
          <a:prstGeom prst="line">
            <a:avLst/>
          </a:prstGeom>
          <a:ln w="1143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9"/>
          <p:cNvSpPr/>
          <p:nvPr/>
        </p:nvSpPr>
        <p:spPr>
          <a:xfrm>
            <a:off x="9784080" y="6428160"/>
            <a:ext cx="1416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111111"/>
                </a:solidFill>
                <a:latin typeface="Times New Roman"/>
                <a:ea typeface="Times New Roman"/>
              </a:rPr>
              <a:t>13 / 13</a:t>
            </a:r>
            <a:endParaRPr b="0" lang="ru-RU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  <Company>ПГУ им. Т.Г. Шевченко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2026-05-27T23:27:51Z</dcterms:created>
  <dc:creator>Степанов Евгений Владиславович</dc:creator>
  <dc:description/>
  <dc:language>ru-RU</dc:language>
  <cp:lastModifiedBy/>
  <dcterms:modified xsi:type="dcterms:W3CDTF">2026-05-28T02:31:16Z</dcterms:modified>
  <cp:revision>2</cp:revision>
  <dc:subject>Дипломная презентация</dc:subject>
  <dc:title>Разработка веб-приложения интернет-магазина электроники TechnoStore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